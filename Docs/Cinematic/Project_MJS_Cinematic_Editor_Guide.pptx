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46" d="100"/>
          <a:sy n="146" d="100"/>
        </p:scale>
        <p:origin x="81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938FEF-B006-44E0-9697-464D3D53B0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B3B5348-24D7-4F34-BAB6-B67D6D5422D1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66675" cy="209550"/>
          </a:xfrm>
          <a:prstGeom prst="rect">
            <a:avLst/>
          </a:prstGeom>
          <a:solidFill>
            <a:srgbClr val="246B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26B15A-8D19-407D-8421-6CBA69CEFF39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6B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SYSTEM MAP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F61D449-9513-4045-B47F-D423FFFF532B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시네마틱은 Request 하나로 모으고, 실행 책임은 Director가 가진다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F22B9AF-3ABF-45D6-88E3-2E01B6E411AD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942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C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677A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스킬, 궁극기, 일반 컷신 트리거가 같은 재생 통로를 사용하도록 에디터 설정을 단순화한다.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FBC5AA-9820-44D8-B3AE-823D5B3E4460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1809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1809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Project_MJS Cinematic Editor Guide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52408F-7704-4D9B-9C51-551EF6664312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2190750" cy="914400"/>
          </a:xfrm>
          <a:prstGeom prst="rect">
            <a:avLst/>
          </a:prstGeom>
          <a:solidFill>
            <a:srgbClr val="E8F0FF"/>
          </a:solidFill>
          <a:ln w="9525">
            <a:solidFill>
              <a:srgbClr val="246BFE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SkillComponent</a:t>
            </a: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궁극기 / 스킬 입력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E290BF3-3FAD-41FC-A6AF-73EE18DC59B6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2190750" cy="914400"/>
          </a:xfrm>
          <a:prstGeom prst="rect">
            <a:avLst/>
          </a:prstGeom>
          <a:solidFill>
            <a:srgbClr val="E5F6F4"/>
          </a:solidFill>
          <a:ln w="9525">
            <a:solidFill>
              <a:srgbClr val="0B8F8A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CinematicTriggerActor</a:t>
            </a: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레벨 컷신 트리거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53C237E-3912-432B-8163-22FE4CA4DB37}"/>
              </a:ext>
            </a:extLst>
          </p:cNvPr>
          <p:cNvSpPr>
            <a:spLocks noGrp="1"/>
          </p:cNvSpPr>
          <p:nvPr/>
        </p:nvSpPr>
        <p:spPr>
          <a:xfrm>
            <a:off x="2990850" y="2686050"/>
            <a:ext cx="1409700" cy="28575"/>
          </a:xfrm>
          <a:prstGeom prst="rect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CCE3527-6CF5-4DDC-BEB9-61A41CB3FA06}"/>
              </a:ext>
            </a:extLst>
          </p:cNvPr>
          <p:cNvSpPr>
            <a:spLocks noGrp="1"/>
          </p:cNvSpPr>
          <p:nvPr/>
        </p:nvSpPr>
        <p:spPr>
          <a:xfrm>
            <a:off x="4229100" y="25527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B8C4D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C4D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ptos"/>
              </a:rPr>
              <a:t>&gt;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4ACD4C5-ECA7-4B3C-A682-EA4BFD848989}"/>
              </a:ext>
            </a:extLst>
          </p:cNvPr>
          <p:cNvSpPr>
            <a:spLocks noGrp="1"/>
          </p:cNvSpPr>
          <p:nvPr/>
        </p:nvSpPr>
        <p:spPr>
          <a:xfrm>
            <a:off x="2990850" y="4000500"/>
            <a:ext cx="1409700" cy="28575"/>
          </a:xfrm>
          <a:prstGeom prst="rect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BA9987-EE73-4BE4-97B7-EF846D97BAFE}"/>
              </a:ext>
            </a:extLst>
          </p:cNvPr>
          <p:cNvSpPr>
            <a:spLocks noGrp="1"/>
          </p:cNvSpPr>
          <p:nvPr/>
        </p:nvSpPr>
        <p:spPr>
          <a:xfrm>
            <a:off x="4229100" y="38671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B8C4D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C4D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ptos"/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B08A1FD-196B-42F4-AA9B-B803EA43C4EF}"/>
              </a:ext>
            </a:extLst>
          </p:cNvPr>
          <p:cNvSpPr>
            <a:spLocks noGrp="1"/>
          </p:cNvSpPr>
          <p:nvPr/>
        </p:nvSpPr>
        <p:spPr>
          <a:xfrm>
            <a:off x="4514850" y="2571750"/>
            <a:ext cx="25717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182235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FCinematicPlaybackRequest</a:t>
            </a:r>
            <a:endParaRPr sz="1050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endParaRPr sz="1050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Sequence</a:t>
            </a: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Participants</a:t>
            </a: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Anchor / Rotation</a:t>
            </a: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Binding Override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78FC4FC-CC17-4C1E-9FA7-8A8D5ADB1DF9}"/>
              </a:ext>
            </a:extLst>
          </p:cNvPr>
          <p:cNvSpPr>
            <a:spLocks noGrp="1"/>
          </p:cNvSpPr>
          <p:nvPr/>
        </p:nvSpPr>
        <p:spPr>
          <a:xfrm>
            <a:off x="7277100" y="3181350"/>
            <a:ext cx="1162050" cy="28575"/>
          </a:xfrm>
          <a:prstGeom prst="rect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4190117-E851-4F9E-B4F8-F33BE730F3E6}"/>
              </a:ext>
            </a:extLst>
          </p:cNvPr>
          <p:cNvSpPr>
            <a:spLocks noGrp="1"/>
          </p:cNvSpPr>
          <p:nvPr/>
        </p:nvSpPr>
        <p:spPr>
          <a:xfrm>
            <a:off x="8267700" y="30480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B8C4D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C4D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ptos"/>
              </a:rPr>
              <a:t>&gt;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16724D5-4384-41AB-881A-3CD977BA8BE1}"/>
              </a:ext>
            </a:extLst>
          </p:cNvPr>
          <p:cNvSpPr>
            <a:spLocks noGrp="1"/>
          </p:cNvSpPr>
          <p:nvPr/>
        </p:nvSpPr>
        <p:spPr>
          <a:xfrm>
            <a:off x="8572500" y="2343150"/>
            <a:ext cx="2857500" cy="1695450"/>
          </a:xfrm>
          <a:prstGeom prst="rect">
            <a:avLst/>
          </a:prstGeom>
          <a:solidFill>
            <a:srgbClr val="FFF3D6"/>
          </a:solidFill>
          <a:ln w="9525">
            <a:solidFill>
              <a:srgbClr val="B7791F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UCinematicDirectorSubsystem</a:t>
            </a:r>
            <a:endParaRPr sz="1275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endParaRPr sz="1275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LevelSequencePlayer</a:t>
            </a:r>
            <a:r>
              <a:rPr sz="1275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1275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생성</a:t>
            </a:r>
            <a:endParaRPr sz="1275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Transform Origin </a:t>
            </a:r>
            <a:r>
              <a:rPr sz="1275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적용</a:t>
            </a:r>
            <a:endParaRPr sz="1275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Binding Tag </a:t>
            </a:r>
            <a:r>
              <a:rPr sz="1275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연결</a:t>
            </a:r>
            <a:endParaRPr sz="1275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Participant </a:t>
            </a:r>
            <a:r>
              <a:rPr sz="1275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알림</a:t>
            </a:r>
            <a:endParaRPr sz="1275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4AD312-C137-4F92-98BD-CE6A6E437416}"/>
              </a:ext>
            </a:extLst>
          </p:cNvPr>
          <p:cNvSpPr>
            <a:spLocks noGrp="1"/>
          </p:cNvSpPr>
          <p:nvPr/>
        </p:nvSpPr>
        <p:spPr>
          <a:xfrm>
            <a:off x="2571750" y="17907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46B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입력/트리거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E35BC09-48A4-4A67-9B2C-6C88D7B4C5FD}"/>
              </a:ext>
            </a:extLst>
          </p:cNvPr>
          <p:cNvSpPr>
            <a:spLocks noGrp="1"/>
          </p:cNvSpPr>
          <p:nvPr/>
        </p:nvSpPr>
        <p:spPr>
          <a:xfrm>
            <a:off x="4800600" y="21717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46B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재생 요청 데이터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5672A66-5002-4B1B-8B9A-03402325B768}"/>
              </a:ext>
            </a:extLst>
          </p:cNvPr>
          <p:cNvSpPr>
            <a:spLocks noGrp="1"/>
          </p:cNvSpPr>
          <p:nvPr/>
        </p:nvSpPr>
        <p:spPr>
          <a:xfrm>
            <a:off x="8839200" y="19431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B779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7791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월드 단위 실행자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603F912-1C58-4C96-898B-4FBBFA6D2909}"/>
              </a:ext>
            </a:extLst>
          </p:cNvPr>
          <p:cNvSpPr>
            <a:spLocks noGrp="1"/>
          </p:cNvSpPr>
          <p:nvPr/>
        </p:nvSpPr>
        <p:spPr>
          <a:xfrm>
            <a:off x="1524000" y="5219700"/>
            <a:ext cx="9144000" cy="533400"/>
          </a:xfrm>
          <a:prstGeom prst="rect">
            <a:avLst/>
          </a:prstGeom>
          <a:solidFill>
            <a:srgbClr val="182235"/>
          </a:solidFill>
          <a:ln w="9525">
            <a:solidFill>
              <a:srgbClr val="182235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전투 판정은 Montage/Notify가 맡고, 시퀀서는 카메라·FOV·포스트프로세스·연출용 VFX를 맡는다.</a:t>
            </a:r>
          </a:p>
        </p:txBody>
      </p:sp>
    </p:spTree>
    <p:extLst>
      <p:ext uri="{BB962C8B-B14F-4D97-AF65-F5344CB8AC3E}">
        <p14:creationId xmlns:p14="http://schemas.microsoft.com/office/powerpoint/2010/main" val="1678798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40A589-7A77-4222-BB71-688730AE41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C657CF-DD34-41B8-929F-EB6B8E7373A1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66675" cy="209550"/>
          </a:xfrm>
          <a:prstGeom prst="rect">
            <a:avLst/>
          </a:prstGeom>
          <a:solidFill>
            <a:srgbClr val="246B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7AFC02-DD40-4AE1-A715-84137F21A8DA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6B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EDITOR SETUP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F87C4BA-FF7F-47DA-BE19-5BC9C07DDF16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레벨 컷신은 Trigger Actor를 배치하고, 참가자는 Component로 반응한다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EDB3C1F-3CB8-4B8E-BB20-CA3BACD24433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942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C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677A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맵에는 발동 조건을, 캐릭터/Enemy에는 멈춤 정책을 붙인다.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0A25FAE-FF62-4566-9441-1CEAFC99E1F4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1809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1809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Project_MJS Cinematic Editor Guide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8C23542-489F-427A-9569-9C348C050892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400050" cy="400050"/>
          </a:xfrm>
          <a:prstGeom prst="rect">
            <a:avLst/>
          </a:prstGeom>
          <a:solidFill>
            <a:srgbClr val="246BFE"/>
          </a:solidFill>
          <a:ln w="0">
            <a:solidFill>
              <a:srgbClr val="246BFE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DD048D-88F7-4282-AA06-9F969F783F54}"/>
              </a:ext>
            </a:extLst>
          </p:cNvPr>
          <p:cNvSpPr>
            <a:spLocks noGrp="1"/>
          </p:cNvSpPr>
          <p:nvPr/>
        </p:nvSpPr>
        <p:spPr>
          <a:xfrm>
            <a:off x="1181100" y="2095500"/>
            <a:ext cx="2667000" cy="762000"/>
          </a:xfrm>
          <a:prstGeom prst="rect">
            <a:avLst/>
          </a:prstGeom>
          <a:solidFill>
            <a:srgbClr val="E8F0FF"/>
          </a:solidFill>
          <a:ln w="9525">
            <a:solidFill>
              <a:srgbClr val="246BFE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Sequence 제작</a:t>
            </a: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카메라 컷, FOV, PP, VFX 트랙 구성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B0B722-7A71-4BED-B03B-9320A780A198}"/>
              </a:ext>
            </a:extLst>
          </p:cNvPr>
          <p:cNvSpPr>
            <a:spLocks noGrp="1"/>
          </p:cNvSpPr>
          <p:nvPr/>
        </p:nvSpPr>
        <p:spPr>
          <a:xfrm>
            <a:off x="3943350" y="2476500"/>
            <a:ext cx="704850" cy="28575"/>
          </a:xfrm>
          <a:prstGeom prst="rect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C8D397F-8BB6-4CEE-A860-349F6A359BC4}"/>
              </a:ext>
            </a:extLst>
          </p:cNvPr>
          <p:cNvSpPr>
            <a:spLocks noGrp="1"/>
          </p:cNvSpPr>
          <p:nvPr/>
        </p:nvSpPr>
        <p:spPr>
          <a:xfrm>
            <a:off x="4476750" y="23431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B8C4D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C4D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ptos"/>
              </a:rPr>
              <a:t>&gt;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EF034A-57A2-493D-ADC1-5618B1571B12}"/>
              </a:ext>
            </a:extLst>
          </p:cNvPr>
          <p:cNvSpPr>
            <a:spLocks noGrp="1"/>
          </p:cNvSpPr>
          <p:nvPr/>
        </p:nvSpPr>
        <p:spPr>
          <a:xfrm>
            <a:off x="4781550" y="2095500"/>
            <a:ext cx="400050" cy="400050"/>
          </a:xfrm>
          <a:prstGeom prst="rect">
            <a:avLst/>
          </a:prstGeom>
          <a:solidFill>
            <a:srgbClr val="0B8F8A"/>
          </a:solidFill>
          <a:ln w="0">
            <a:solidFill>
              <a:srgbClr val="0B8F8A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4768ECE-CACB-48FF-BB82-A04569896B29}"/>
              </a:ext>
            </a:extLst>
          </p:cNvPr>
          <p:cNvSpPr>
            <a:spLocks noGrp="1"/>
          </p:cNvSpPr>
          <p:nvPr/>
        </p:nvSpPr>
        <p:spPr>
          <a:xfrm>
            <a:off x="5295900" y="2095500"/>
            <a:ext cx="2667000" cy="762000"/>
          </a:xfrm>
          <a:prstGeom prst="rect">
            <a:avLst/>
          </a:prstGeom>
          <a:solidFill>
            <a:srgbClr val="E5F6F4"/>
          </a:solidFill>
          <a:ln w="9525">
            <a:solidFill>
              <a:srgbClr val="0B8F8A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Trigger </a:t>
            </a:r>
            <a:r>
              <a:rPr sz="1125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배치</a:t>
            </a:r>
            <a:endParaRPr sz="1125" b="0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ACinematicTriggerActor를</a:t>
            </a:r>
            <a:r>
              <a:rPr sz="900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9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레벨에</a:t>
            </a:r>
            <a:r>
              <a:rPr sz="900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9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배치</a:t>
            </a:r>
            <a:endParaRPr sz="900" b="0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4ECCBEA-6DA8-4AB2-AE3A-9BA082F96062}"/>
              </a:ext>
            </a:extLst>
          </p:cNvPr>
          <p:cNvSpPr>
            <a:spLocks noGrp="1"/>
          </p:cNvSpPr>
          <p:nvPr/>
        </p:nvSpPr>
        <p:spPr>
          <a:xfrm>
            <a:off x="8058150" y="2476500"/>
            <a:ext cx="704850" cy="28575"/>
          </a:xfrm>
          <a:prstGeom prst="rect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7226A31-A9CA-49D0-B4B2-AFB8953F7E92}"/>
              </a:ext>
            </a:extLst>
          </p:cNvPr>
          <p:cNvSpPr>
            <a:spLocks noGrp="1"/>
          </p:cNvSpPr>
          <p:nvPr/>
        </p:nvSpPr>
        <p:spPr>
          <a:xfrm>
            <a:off x="8591550" y="23431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B8C4D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C4D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ptos"/>
              </a:rPr>
              <a:t>&gt;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F543CD2-1626-4B9F-8354-94EA5640B45A}"/>
              </a:ext>
            </a:extLst>
          </p:cNvPr>
          <p:cNvSpPr>
            <a:spLocks noGrp="1"/>
          </p:cNvSpPr>
          <p:nvPr/>
        </p:nvSpPr>
        <p:spPr>
          <a:xfrm>
            <a:off x="8896350" y="2095500"/>
            <a:ext cx="400050" cy="400050"/>
          </a:xfrm>
          <a:prstGeom prst="rect">
            <a:avLst/>
          </a:prstGeom>
          <a:solidFill>
            <a:srgbClr val="B7791F"/>
          </a:solidFill>
          <a:ln w="0">
            <a:solidFill>
              <a:srgbClr val="B7791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BA60804-BE1E-4CD4-90EE-504189F2E7DD}"/>
              </a:ext>
            </a:extLst>
          </p:cNvPr>
          <p:cNvSpPr>
            <a:spLocks noGrp="1"/>
          </p:cNvSpPr>
          <p:nvPr/>
        </p:nvSpPr>
        <p:spPr>
          <a:xfrm>
            <a:off x="9410700" y="2095500"/>
            <a:ext cx="2667000" cy="762000"/>
          </a:xfrm>
          <a:prstGeom prst="rect">
            <a:avLst/>
          </a:prstGeom>
          <a:solidFill>
            <a:srgbClr val="FFF3D6"/>
          </a:solidFill>
          <a:ln w="9525">
            <a:solidFill>
              <a:srgbClr val="B7791F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Details 설정</a:t>
            </a: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Sequence, Anchor, Binding, Debug 입력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ACD08B3-D1B7-4C95-84FB-5A072D36344F}"/>
              </a:ext>
            </a:extLst>
          </p:cNvPr>
          <p:cNvSpPr>
            <a:spLocks noGrp="1"/>
          </p:cNvSpPr>
          <p:nvPr/>
        </p:nvSpPr>
        <p:spPr>
          <a:xfrm>
            <a:off x="838200" y="3676650"/>
            <a:ext cx="480060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246BFE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1200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플레이어 BP</a:t>
            </a:r>
          </a:p>
          <a:p>
            <a:pPr algn="l">
              <a:defRPr sz="1200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- CinematicActionComponent</a:t>
            </a:r>
          </a:p>
          <a:p>
            <a:pPr algn="l">
              <a:defRPr sz="1200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- CinematicParticipantComponent</a:t>
            </a:r>
          </a:p>
          <a:p>
            <a:pPr algn="l">
              <a:defRPr sz="1200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- 기본값: 입력/이동 잠금 ON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36B0BB2-5AB3-468D-8775-AE0304E02451}"/>
              </a:ext>
            </a:extLst>
          </p:cNvPr>
          <p:cNvSpPr>
            <a:spLocks noGrp="1"/>
          </p:cNvSpPr>
          <p:nvPr/>
        </p:nvSpPr>
        <p:spPr>
          <a:xfrm>
            <a:off x="6553200" y="3676650"/>
            <a:ext cx="480060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0B8F8A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1200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Enemy / NPC BP</a:t>
            </a:r>
          </a:p>
          <a:p>
            <a:pPr algn="l">
              <a:defRPr sz="1200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- CinematicParticipantComponent</a:t>
            </a:r>
          </a:p>
          <a:p>
            <a:pPr algn="l">
              <a:defRPr sz="1200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- 필요 시 bPauseAILogic ON</a:t>
            </a:r>
          </a:p>
          <a:p>
            <a:pPr algn="l">
              <a:defRPr sz="1200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- Tick/Animation 정지 옵션 선택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88BB7CF-22F8-4C2F-81C5-CA4D0A35D8EB}"/>
              </a:ext>
            </a:extLst>
          </p:cNvPr>
          <p:cNvSpPr>
            <a:spLocks noGrp="1"/>
          </p:cNvSpPr>
          <p:nvPr/>
        </p:nvSpPr>
        <p:spPr>
          <a:xfrm>
            <a:off x="2362200" y="5410200"/>
            <a:ext cx="7467600" cy="495300"/>
          </a:xfrm>
          <a:prstGeom prst="rect">
            <a:avLst/>
          </a:prstGeom>
          <a:solidFill>
            <a:srgbClr val="182235"/>
          </a:solidFill>
          <a:ln w="9525">
            <a:solidFill>
              <a:srgbClr val="182235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중요: Trigger는 플레이어 클래스를 몰라도 되고, Participant는 스킬인지 일반 컷신인지 몰라도 된다.</a:t>
            </a:r>
          </a:p>
        </p:txBody>
      </p:sp>
    </p:spTree>
    <p:extLst>
      <p:ext uri="{BB962C8B-B14F-4D97-AF65-F5344CB8AC3E}">
        <p14:creationId xmlns:p14="http://schemas.microsoft.com/office/powerpoint/2010/main" val="1840192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CC5D0E32-B90F-4B33-A09B-99157810B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B210FE-54D4-4EAB-B936-46248A84B6C4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66675" cy="209550"/>
          </a:xfrm>
          <a:prstGeom prst="rect">
            <a:avLst/>
          </a:prstGeom>
          <a:solidFill>
            <a:srgbClr val="246B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C68397E-89A2-4A79-80B8-5A629BBD5FD5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6B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TRIGGER DETAILS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8FBD19-3FD5-445D-9FD5-9DE6A03B30B9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트리거 액터 Details 패널은 네 구역만 보면 된다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4DBD95-9F99-4B3D-BAFF-D7E39D558C16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942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C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677A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Sequence, Binding, Dynamic Transform, Debug를 차례대로 설정한다.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768654-902F-440B-8052-9EF0932D22AF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1809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1809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Project_MJS Cinematic Editor Guide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0255F3A-5534-424D-9FB8-7220F20515C3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43624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182235"/>
            </a:solidFill>
            <a:prstDash val="solid"/>
          </a:ln>
        </p:spPr>
        <p:txBody>
          <a:bodyPr lIns="133350" tIns="95250" rIns="133350" bIns="95250" anchor="t"/>
          <a:lstStyle/>
          <a:p>
            <a:pPr algn="ctr">
              <a:defRPr sz="15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endParaRPr lang="en-US" sz="1200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ctr">
              <a:defRPr sz="15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ACinematicTriggerActor</a:t>
            </a:r>
            <a:endParaRPr sz="1200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ctr">
              <a:defRPr sz="15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Details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962D9A-D928-4EA4-9798-B4B6B1E3C3B6}"/>
              </a:ext>
            </a:extLst>
          </p:cNvPr>
          <p:cNvSpPr>
            <a:spLocks noGrp="1"/>
          </p:cNvSpPr>
          <p:nvPr/>
        </p:nvSpPr>
        <p:spPr>
          <a:xfrm>
            <a:off x="1066800" y="2687887"/>
            <a:ext cx="35433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97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Sequence: 재생할 Level Sequence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FA7D6C-AB53-4897-AD27-E99848BC4190}"/>
              </a:ext>
            </a:extLst>
          </p:cNvPr>
          <p:cNvSpPr>
            <a:spLocks noGrp="1"/>
          </p:cNvSpPr>
          <p:nvPr/>
        </p:nvSpPr>
        <p:spPr>
          <a:xfrm>
            <a:off x="1066800" y="3183187"/>
            <a:ext cx="35433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97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RequiredActorClass</a:t>
            </a:r>
            <a:r>
              <a:rPr sz="975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: </a:t>
            </a:r>
            <a:br>
              <a:rPr lang="en-US" sz="975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</a:br>
            <a:r>
              <a:rPr sz="8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플레이어만</a:t>
            </a:r>
            <a:r>
              <a:rPr sz="800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8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발동하려면</a:t>
            </a:r>
            <a:r>
              <a:rPr sz="800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8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BP_PlayerCharacter</a:t>
            </a:r>
            <a:endParaRPr sz="975" b="0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5273053-A81D-41BD-AC4A-87CEE57C7705}"/>
              </a:ext>
            </a:extLst>
          </p:cNvPr>
          <p:cNvSpPr>
            <a:spLocks noGrp="1"/>
          </p:cNvSpPr>
          <p:nvPr/>
        </p:nvSpPr>
        <p:spPr>
          <a:xfrm>
            <a:off x="1066800" y="3695700"/>
            <a:ext cx="35433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97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TriggerOnce: 한 번만 재생할지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BDF0E40-5167-4204-AAF0-C1ECB5CB6663}"/>
              </a:ext>
            </a:extLst>
          </p:cNvPr>
          <p:cNvSpPr>
            <a:spLocks noGrp="1"/>
          </p:cNvSpPr>
          <p:nvPr/>
        </p:nvSpPr>
        <p:spPr>
          <a:xfrm>
            <a:off x="1066800" y="4175556"/>
            <a:ext cx="35433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97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AffectAllParticipants</a:t>
            </a:r>
            <a:r>
              <a:rPr sz="975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: </a:t>
            </a:r>
            <a:r>
              <a:rPr sz="975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월드</a:t>
            </a:r>
            <a:r>
              <a:rPr sz="975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975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참가자</a:t>
            </a:r>
            <a:r>
              <a:rPr sz="975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975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전체</a:t>
            </a:r>
            <a:r>
              <a:rPr sz="975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975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반응</a:t>
            </a:r>
            <a:endParaRPr sz="975" b="0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D7BC2D-7B7B-44FA-8DC1-A75EAEEECD79}"/>
              </a:ext>
            </a:extLst>
          </p:cNvPr>
          <p:cNvSpPr>
            <a:spLocks noGrp="1"/>
          </p:cNvSpPr>
          <p:nvPr/>
        </p:nvSpPr>
        <p:spPr>
          <a:xfrm>
            <a:off x="1066800" y="4646363"/>
            <a:ext cx="35433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97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8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NetworkPolicy</a:t>
            </a:r>
            <a:r>
              <a:rPr sz="800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: </a:t>
            </a:r>
            <a:r>
              <a:rPr sz="8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LocalOnly</a:t>
            </a:r>
            <a:r>
              <a:rPr sz="800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/ </a:t>
            </a:r>
            <a:r>
              <a:rPr sz="8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AuthorityOnly</a:t>
            </a:r>
            <a:r>
              <a:rPr sz="800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/ </a:t>
            </a:r>
            <a:r>
              <a:rPr sz="8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AnyNetMode</a:t>
            </a:r>
            <a:endParaRPr sz="800" b="0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9B145D1-D266-4E3D-AC46-1D62B5343941}"/>
              </a:ext>
            </a:extLst>
          </p:cNvPr>
          <p:cNvSpPr>
            <a:spLocks noGrp="1"/>
          </p:cNvSpPr>
          <p:nvPr/>
        </p:nvSpPr>
        <p:spPr>
          <a:xfrm>
            <a:off x="5829300" y="18669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46B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Binding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06BABF0-0FC8-43A3-A3E0-5645E34CAEAE}"/>
              </a:ext>
            </a:extLst>
          </p:cNvPr>
          <p:cNvSpPr>
            <a:spLocks noGrp="1"/>
          </p:cNvSpPr>
          <p:nvPr/>
        </p:nvSpPr>
        <p:spPr>
          <a:xfrm>
            <a:off x="5829300" y="2152650"/>
            <a:ext cx="2381250" cy="914400"/>
          </a:xfrm>
          <a:prstGeom prst="rect">
            <a:avLst/>
          </a:prstGeom>
          <a:solidFill>
            <a:srgbClr val="E8F0FF"/>
          </a:solidFill>
          <a:ln w="9525">
            <a:solidFill>
              <a:srgbClr val="246BFE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BindingOverrides</a:t>
            </a:r>
            <a:endParaRPr sz="1125" b="0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endParaRPr sz="1125" b="0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Player -&gt; </a:t>
            </a:r>
            <a:r>
              <a:rPr sz="9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BP_Player</a:t>
            </a:r>
            <a:endParaRPr sz="900" b="0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Target -&gt; Boss</a:t>
            </a: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Weapon -&gt; Sword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335E0BD-CDCF-4AE2-9873-1B3D9F9BED31}"/>
              </a:ext>
            </a:extLst>
          </p:cNvPr>
          <p:cNvSpPr>
            <a:spLocks noGrp="1"/>
          </p:cNvSpPr>
          <p:nvPr/>
        </p:nvSpPr>
        <p:spPr>
          <a:xfrm>
            <a:off x="8839200" y="18669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8F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B8F8A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Dynamic Transform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4D59D95-5C30-4B90-A52F-180031E8DBD0}"/>
              </a:ext>
            </a:extLst>
          </p:cNvPr>
          <p:cNvSpPr>
            <a:spLocks noGrp="1"/>
          </p:cNvSpPr>
          <p:nvPr/>
        </p:nvSpPr>
        <p:spPr>
          <a:xfrm>
            <a:off x="8839200" y="2152650"/>
            <a:ext cx="2381250" cy="1352550"/>
          </a:xfrm>
          <a:prstGeom prst="rect">
            <a:avLst/>
          </a:prstGeom>
          <a:solidFill>
            <a:srgbClr val="E5F6F4"/>
          </a:solidFill>
          <a:ln w="9525">
            <a:solidFill>
              <a:srgbClr val="0B8F8A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AnchorMode</a:t>
            </a: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RotationSource</a:t>
            </a: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RelativeTransform</a:t>
            </a: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bUseYawOnly</a:t>
            </a: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AnchorSocketName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823A2E2-685C-43BF-9087-99BAC31715EC}"/>
              </a:ext>
            </a:extLst>
          </p:cNvPr>
          <p:cNvSpPr>
            <a:spLocks noGrp="1"/>
          </p:cNvSpPr>
          <p:nvPr/>
        </p:nvSpPr>
        <p:spPr>
          <a:xfrm>
            <a:off x="5829300" y="37338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B779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7791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Debug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9787B7-5165-4C9A-80EF-AB0F86686D1B}"/>
              </a:ext>
            </a:extLst>
          </p:cNvPr>
          <p:cNvSpPr>
            <a:spLocks noGrp="1"/>
          </p:cNvSpPr>
          <p:nvPr/>
        </p:nvSpPr>
        <p:spPr>
          <a:xfrm>
            <a:off x="5829300" y="4019550"/>
            <a:ext cx="2381250" cy="1123950"/>
          </a:xfrm>
          <a:prstGeom prst="rect">
            <a:avLst/>
          </a:prstGeom>
          <a:solidFill>
            <a:srgbClr val="FFF3D6"/>
          </a:solidFill>
          <a:ln w="9525">
            <a:solidFill>
              <a:srgbClr val="B7791F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bDrawDebugAnchor</a:t>
            </a:r>
            <a:endParaRPr sz="1125" b="0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Duration</a:t>
            </a: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Scale</a:t>
            </a:r>
          </a:p>
          <a:p>
            <a:endParaRPr sz="1125" b="0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PIE</a:t>
            </a:r>
            <a:r>
              <a:rPr lang="en-US" sz="1125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(</a:t>
            </a:r>
            <a:r>
              <a:rPr lang="ko-KR" altLang="en-US" sz="1125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에디터</a:t>
            </a:r>
            <a:r>
              <a:rPr lang="en-US" altLang="ko-KR" sz="1125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)</a:t>
            </a:r>
            <a:r>
              <a:rPr sz="1125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에서</a:t>
            </a:r>
            <a:r>
              <a:rPr sz="1125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1125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원점</a:t>
            </a:r>
            <a:r>
              <a:rPr sz="1125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1125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확인</a:t>
            </a:r>
            <a:endParaRPr sz="1125" b="0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C70ED14-789E-4C5C-B05D-CC6C7A60AD2F}"/>
              </a:ext>
            </a:extLst>
          </p:cNvPr>
          <p:cNvSpPr>
            <a:spLocks noGrp="1"/>
          </p:cNvSpPr>
          <p:nvPr/>
        </p:nvSpPr>
        <p:spPr>
          <a:xfrm>
            <a:off x="8839200" y="37338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67A3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3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Participants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AC3AAE1-EA50-422B-9E48-6E570A4B9BA6}"/>
              </a:ext>
            </a:extLst>
          </p:cNvPr>
          <p:cNvSpPr>
            <a:spLocks noGrp="1"/>
          </p:cNvSpPr>
          <p:nvPr/>
        </p:nvSpPr>
        <p:spPr>
          <a:xfrm>
            <a:off x="8839200" y="4019550"/>
            <a:ext cx="2381250" cy="1123950"/>
          </a:xfrm>
          <a:prstGeom prst="rect">
            <a:avLst/>
          </a:prstGeom>
          <a:solidFill>
            <a:srgbClr val="E8F6EC"/>
          </a:solidFill>
          <a:ln w="9525">
            <a:solidFill>
              <a:srgbClr val="267A3E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Player / Enemy BP에</a:t>
            </a: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ParticipantComponent</a:t>
            </a:r>
          </a:p>
          <a:p>
            <a:endParaRPr sz="1125" b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AI는 bPauseAILogic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FEC8654-3391-449B-82F1-E6765263778B}"/>
              </a:ext>
            </a:extLst>
          </p:cNvPr>
          <p:cNvSpPr>
            <a:spLocks noGrp="1"/>
          </p:cNvSpPr>
          <p:nvPr/>
        </p:nvSpPr>
        <p:spPr>
          <a:xfrm>
            <a:off x="1257300" y="5867400"/>
            <a:ext cx="9677400" cy="400050"/>
          </a:xfrm>
          <a:prstGeom prst="rect">
            <a:avLst/>
          </a:prstGeom>
          <a:solidFill>
            <a:srgbClr val="182235"/>
          </a:solidFill>
          <a:ln w="9525">
            <a:solidFill>
              <a:srgbClr val="182235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트리거 기반 컷신은 코드 없이도 대부분 Details 패널에서 조립할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823683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A9593132-9B97-498D-86F7-3E7DB8688B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8BBAFC1-9EF8-4A3B-A813-8F4A24495926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66675" cy="209550"/>
          </a:xfrm>
          <a:prstGeom prst="rect">
            <a:avLst/>
          </a:prstGeom>
          <a:solidFill>
            <a:srgbClr val="246B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A0C252-B737-4415-A3DE-2D62CFEBFA4D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6B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SKILL ANCHOR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69C5FAA-A860-4099-B149-D43866D1FD7E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스킬 시퀀스는 위치 기준과 회전 기준을 분리해서 잡는다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AE43BF-18DB-44CD-B604-C972591F275B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942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C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677A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플레이어 위치에서 시작하되, 방향은 캐릭터 전방이나 카메라 yaw를 선택할 수 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B40E19-7333-4CE9-855C-2F7B75CD4699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1809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1809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Project_MJS Cinematic Editor Guide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CC45D5F-3B42-40D9-AAC4-4694AD82DC6C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1714500" cy="876300"/>
          </a:xfrm>
          <a:prstGeom prst="rect">
            <a:avLst/>
          </a:prstGeom>
          <a:solidFill>
            <a:srgbClr val="E8F0FF"/>
          </a:solidFill>
          <a:ln w="9525">
            <a:solidFill>
              <a:srgbClr val="246BFE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Player</a:t>
            </a: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InstigatorActor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43672E4-9460-44F0-A311-86CB80FDC512}"/>
              </a:ext>
            </a:extLst>
          </p:cNvPr>
          <p:cNvSpPr>
            <a:spLocks noGrp="1"/>
          </p:cNvSpPr>
          <p:nvPr/>
        </p:nvSpPr>
        <p:spPr>
          <a:xfrm>
            <a:off x="9525000" y="2266950"/>
            <a:ext cx="1714500" cy="876300"/>
          </a:xfrm>
          <a:prstGeom prst="rect">
            <a:avLst/>
          </a:prstGeom>
          <a:solidFill>
            <a:srgbClr val="FCE7E7"/>
          </a:solidFill>
          <a:ln w="9525">
            <a:solidFill>
              <a:srgbClr val="C24141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Target</a:t>
            </a: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SubjectActor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190132-C60A-4141-B789-1A591DC08853}"/>
              </a:ext>
            </a:extLst>
          </p:cNvPr>
          <p:cNvSpPr>
            <a:spLocks noGrp="1"/>
          </p:cNvSpPr>
          <p:nvPr/>
        </p:nvSpPr>
        <p:spPr>
          <a:xfrm>
            <a:off x="2667000" y="2686050"/>
            <a:ext cx="6572250" cy="28575"/>
          </a:xfrm>
          <a:prstGeom prst="rect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51CA9CA-387B-4582-8178-335763655E87}"/>
              </a:ext>
            </a:extLst>
          </p:cNvPr>
          <p:cNvSpPr>
            <a:spLocks noGrp="1"/>
          </p:cNvSpPr>
          <p:nvPr/>
        </p:nvSpPr>
        <p:spPr>
          <a:xfrm>
            <a:off x="9067800" y="25527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B8C4D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C4D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ptos"/>
              </a:rPr>
              <a:t>&gt;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B866C09-3763-48E9-A49B-82959E8470D4}"/>
              </a:ext>
            </a:extLst>
          </p:cNvPr>
          <p:cNvSpPr>
            <a:spLocks noGrp="1"/>
          </p:cNvSpPr>
          <p:nvPr/>
        </p:nvSpPr>
        <p:spPr>
          <a:xfrm>
            <a:off x="4629150" y="2209800"/>
            <a:ext cx="29527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182235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InstigatorToSubject</a:t>
            </a: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플레이어 위치에서 타겟을 바라봄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EDAD32-7381-40EE-B023-47C306552048}"/>
              </a:ext>
            </a:extLst>
          </p:cNvPr>
          <p:cNvSpPr>
            <a:spLocks noGrp="1"/>
          </p:cNvSpPr>
          <p:nvPr/>
        </p:nvSpPr>
        <p:spPr>
          <a:xfrm>
            <a:off x="952500" y="36766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46B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추천 조합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A8F639C-F4F3-4463-8A0B-A8540D0E4AC7}"/>
              </a:ext>
            </a:extLst>
          </p:cNvPr>
          <p:cNvSpPr>
            <a:spLocks noGrp="1"/>
          </p:cNvSpPr>
          <p:nvPr/>
        </p:nvSpPr>
        <p:spPr>
          <a:xfrm>
            <a:off x="952500" y="4019550"/>
            <a:ext cx="3028950" cy="1257300"/>
          </a:xfrm>
          <a:prstGeom prst="rect">
            <a:avLst/>
          </a:prstGeom>
          <a:solidFill>
            <a:srgbClr val="E8F0FF"/>
          </a:solidFill>
          <a:ln w="9525">
            <a:solidFill>
              <a:srgbClr val="246BFE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캐릭터</a:t>
            </a:r>
            <a:r>
              <a:rPr sz="1125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1125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정면</a:t>
            </a:r>
            <a:r>
              <a:rPr sz="1125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1125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궁극기</a:t>
            </a:r>
            <a:endParaRPr sz="1125" b="0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AnchorMode</a:t>
            </a:r>
            <a:r>
              <a:rPr sz="900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= </a:t>
            </a:r>
            <a:r>
              <a:rPr sz="9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InstigatorActor</a:t>
            </a:r>
            <a:endParaRPr sz="900" b="0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RotationSource</a:t>
            </a:r>
            <a:r>
              <a:rPr sz="900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= </a:t>
            </a:r>
            <a:r>
              <a:rPr sz="9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InstigatorActor</a:t>
            </a:r>
            <a:endParaRPr sz="900" b="0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bUseYawOnly</a:t>
            </a:r>
            <a:r>
              <a:rPr sz="900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= true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70706FF-07BE-4282-80C7-F6D019A5EBF5}"/>
              </a:ext>
            </a:extLst>
          </p:cNvPr>
          <p:cNvSpPr>
            <a:spLocks noGrp="1"/>
          </p:cNvSpPr>
          <p:nvPr/>
        </p:nvSpPr>
        <p:spPr>
          <a:xfrm>
            <a:off x="4591050" y="4019550"/>
            <a:ext cx="3028950" cy="1257300"/>
          </a:xfrm>
          <a:prstGeom prst="rect">
            <a:avLst/>
          </a:prstGeom>
          <a:solidFill>
            <a:srgbClr val="E5F6F4"/>
          </a:solidFill>
          <a:ln w="9525">
            <a:solidFill>
              <a:srgbClr val="0B8F8A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카메라</a:t>
            </a:r>
            <a:r>
              <a:rPr sz="1125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1125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방향</a:t>
            </a:r>
            <a:r>
              <a:rPr sz="1125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1125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스킬</a:t>
            </a:r>
            <a:endParaRPr sz="1125" b="0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AnchorMode</a:t>
            </a:r>
            <a:r>
              <a:rPr sz="1000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= </a:t>
            </a:r>
            <a:r>
              <a:rPr sz="10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InstigatorActor</a:t>
            </a:r>
            <a:endParaRPr sz="1000" b="0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RotationSource</a:t>
            </a:r>
            <a:r>
              <a:rPr sz="1000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= </a:t>
            </a:r>
            <a:r>
              <a:rPr sz="10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PlayerCameraRotation</a:t>
            </a:r>
            <a:endParaRPr sz="1000" b="0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bUseYawOnly</a:t>
            </a:r>
            <a:r>
              <a:rPr sz="1000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= true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739C70E-57F3-4D86-AB33-A6822211B7BE}"/>
              </a:ext>
            </a:extLst>
          </p:cNvPr>
          <p:cNvSpPr>
            <a:spLocks noGrp="1"/>
          </p:cNvSpPr>
          <p:nvPr/>
        </p:nvSpPr>
        <p:spPr>
          <a:xfrm>
            <a:off x="8201025" y="4019550"/>
            <a:ext cx="3028950" cy="1257300"/>
          </a:xfrm>
          <a:prstGeom prst="rect">
            <a:avLst/>
          </a:prstGeom>
          <a:solidFill>
            <a:srgbClr val="FFF3D6"/>
          </a:solidFill>
          <a:ln w="9525">
            <a:solidFill>
              <a:srgbClr val="B7791F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타겟</a:t>
            </a:r>
            <a:r>
              <a:rPr sz="1125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1125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연계기</a:t>
            </a:r>
            <a:endParaRPr sz="1125" b="0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AnchorMode</a:t>
            </a:r>
            <a:r>
              <a:rPr sz="900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= </a:t>
            </a:r>
            <a:r>
              <a:rPr sz="9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InstigatorToSubject</a:t>
            </a:r>
            <a:endParaRPr sz="900" b="0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SubjectActor</a:t>
            </a:r>
            <a:r>
              <a:rPr sz="900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= Target</a:t>
            </a: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RelativeTransform으로</a:t>
            </a:r>
            <a:r>
              <a:rPr sz="900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9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거리</a:t>
            </a:r>
            <a:r>
              <a:rPr sz="900" b="0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900" b="0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보정</a:t>
            </a:r>
            <a:endParaRPr sz="900" b="0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751E3EE-4DCD-49A2-B97F-782088532AB8}"/>
              </a:ext>
            </a:extLst>
          </p:cNvPr>
          <p:cNvSpPr>
            <a:spLocks noGrp="1"/>
          </p:cNvSpPr>
          <p:nvPr/>
        </p:nvSpPr>
        <p:spPr>
          <a:xfrm>
            <a:off x="2476500" y="5753100"/>
            <a:ext cx="7239000" cy="400050"/>
          </a:xfrm>
          <a:prstGeom prst="rect">
            <a:avLst/>
          </a:prstGeom>
          <a:solidFill>
            <a:srgbClr val="182235"/>
          </a:solidFill>
          <a:ln w="9525">
            <a:solidFill>
              <a:srgbClr val="182235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에셋은 로컬 원점 기준으로 만들고, 런타임에서 Transform Origin으로 월드에 배치한다.</a:t>
            </a:r>
          </a:p>
        </p:txBody>
      </p:sp>
    </p:spTree>
    <p:extLst>
      <p:ext uri="{BB962C8B-B14F-4D97-AF65-F5344CB8AC3E}">
        <p14:creationId xmlns:p14="http://schemas.microsoft.com/office/powerpoint/2010/main" val="1675046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BF3DD97B-1CBD-4C63-98FB-6A89766195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CEE261A-19CA-4DF0-AEC1-308C0571FE73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66675" cy="209550"/>
          </a:xfrm>
          <a:prstGeom prst="rect">
            <a:avLst/>
          </a:prstGeom>
          <a:solidFill>
            <a:srgbClr val="246B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F9F861-E100-4468-B3AD-CE0BEC0E4543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 dirty="0">
                <a:solidFill>
                  <a:srgbClr val="246B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BINDING OVERRIDE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810DF28-448A-41EA-BEE7-5BD10DE70797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Sequencer의</a:t>
            </a:r>
            <a:r>
              <a:rPr sz="2175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2175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태그를</a:t>
            </a:r>
            <a:r>
              <a:rPr sz="2175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2175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런타임</a:t>
            </a:r>
            <a:r>
              <a:rPr sz="2175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2175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액터로</a:t>
            </a:r>
            <a:r>
              <a:rPr sz="2175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2175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교체하면</a:t>
            </a:r>
            <a:r>
              <a:rPr sz="2175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2175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같은</a:t>
            </a:r>
            <a:r>
              <a:rPr sz="2175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2175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컷신을</a:t>
            </a:r>
            <a:r>
              <a:rPr sz="2175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2175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재사용할</a:t>
            </a:r>
            <a:r>
              <a:rPr sz="2175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수 </a:t>
            </a:r>
            <a:r>
              <a:rPr sz="2175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있다</a:t>
            </a:r>
            <a:endParaRPr sz="2175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F527BF-BF8A-44B6-8AA7-8907CDEB36B1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942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C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677A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Player, Target, Weapon처럼 의미 있는 Binding Tag를 먼저 정한다.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565624-D48C-4CB7-97B2-293BF2073897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1809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1809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Project_MJS Cinematic Editor Guide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BE52F36-1BB3-4786-B9C6-CE88AFFD7589}"/>
              </a:ext>
            </a:extLst>
          </p:cNvPr>
          <p:cNvSpPr>
            <a:spLocks noGrp="1"/>
          </p:cNvSpPr>
          <p:nvPr/>
        </p:nvSpPr>
        <p:spPr>
          <a:xfrm>
            <a:off x="723900" y="2038350"/>
            <a:ext cx="2686050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182235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Sequencer</a:t>
            </a:r>
          </a:p>
          <a:p>
            <a:endParaRPr sz="1275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Actor Binding </a:t>
            </a:r>
            <a:r>
              <a:rPr sz="1275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우클릭</a:t>
            </a:r>
            <a:endParaRPr sz="1275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Tags...</a:t>
            </a:r>
          </a:p>
          <a:p>
            <a:endParaRPr sz="1275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Player</a:t>
            </a: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Target</a:t>
            </a: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Weapon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EAB735A-451A-41EC-85D7-1A54356CA3E1}"/>
              </a:ext>
            </a:extLst>
          </p:cNvPr>
          <p:cNvSpPr>
            <a:spLocks noGrp="1"/>
          </p:cNvSpPr>
          <p:nvPr/>
        </p:nvSpPr>
        <p:spPr>
          <a:xfrm>
            <a:off x="3676650" y="3162300"/>
            <a:ext cx="1390650" cy="28575"/>
          </a:xfrm>
          <a:prstGeom prst="rect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E806661-7564-4EAD-8E3B-884896FF4559}"/>
              </a:ext>
            </a:extLst>
          </p:cNvPr>
          <p:cNvSpPr>
            <a:spLocks noGrp="1"/>
          </p:cNvSpPr>
          <p:nvPr/>
        </p:nvSpPr>
        <p:spPr>
          <a:xfrm>
            <a:off x="4895850" y="30289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B8C4D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C4D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ptos"/>
              </a:rPr>
              <a:t>&gt;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BAD81BA-1267-4F1D-9202-B943D70FBB36}"/>
              </a:ext>
            </a:extLst>
          </p:cNvPr>
          <p:cNvSpPr>
            <a:spLocks noGrp="1"/>
          </p:cNvSpPr>
          <p:nvPr/>
        </p:nvSpPr>
        <p:spPr>
          <a:xfrm>
            <a:off x="5295900" y="2038350"/>
            <a:ext cx="2686050" cy="2266950"/>
          </a:xfrm>
          <a:prstGeom prst="rect">
            <a:avLst/>
          </a:prstGeom>
          <a:solidFill>
            <a:srgbClr val="E8F0FF"/>
          </a:solidFill>
          <a:ln w="9525">
            <a:solidFill>
              <a:srgbClr val="246BFE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200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FCinematicBindingOverride</a:t>
            </a:r>
          </a:p>
          <a:p>
            <a:endParaRPr sz="1200" b="1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ctr">
              <a:defRPr sz="1200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BindingTag = Player</a:t>
            </a:r>
          </a:p>
          <a:p>
            <a:pPr algn="ctr">
              <a:defRPr sz="1200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Actors = BP_Player</a:t>
            </a:r>
          </a:p>
          <a:p>
            <a:endParaRPr sz="1200" b="1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ctr">
              <a:defRPr sz="1200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BindingTag = Target</a:t>
            </a:r>
          </a:p>
          <a:p>
            <a:pPr algn="ctr">
              <a:defRPr sz="1200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Actors = BP_Boss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AB8B5D-8CAA-49AD-986E-93E07B0806D5}"/>
              </a:ext>
            </a:extLst>
          </p:cNvPr>
          <p:cNvSpPr>
            <a:spLocks noGrp="1"/>
          </p:cNvSpPr>
          <p:nvPr/>
        </p:nvSpPr>
        <p:spPr>
          <a:xfrm>
            <a:off x="8248650" y="3162300"/>
            <a:ext cx="1390650" cy="28575"/>
          </a:xfrm>
          <a:prstGeom prst="rect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A93E11-52AE-437C-BB08-D85BAAECC002}"/>
              </a:ext>
            </a:extLst>
          </p:cNvPr>
          <p:cNvSpPr>
            <a:spLocks noGrp="1"/>
          </p:cNvSpPr>
          <p:nvPr/>
        </p:nvSpPr>
        <p:spPr>
          <a:xfrm>
            <a:off x="9467850" y="30289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B8C4D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C4D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ptos"/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0A88AB-E8C4-4903-88E3-51687A605945}"/>
              </a:ext>
            </a:extLst>
          </p:cNvPr>
          <p:cNvSpPr>
            <a:spLocks noGrp="1"/>
          </p:cNvSpPr>
          <p:nvPr/>
        </p:nvSpPr>
        <p:spPr>
          <a:xfrm>
            <a:off x="9867900" y="2038350"/>
            <a:ext cx="1714500" cy="2266950"/>
          </a:xfrm>
          <a:prstGeom prst="rect">
            <a:avLst/>
          </a:prstGeom>
          <a:solidFill>
            <a:srgbClr val="E8F6EC"/>
          </a:solidFill>
          <a:ln w="9525">
            <a:solidFill>
              <a:srgbClr val="267A3E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Runtime</a:t>
            </a:r>
          </a:p>
          <a:p>
            <a:endParaRPr sz="1275" b="1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실제 캐릭터</a:t>
            </a: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실제 타겟</a:t>
            </a: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실제 무기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EB81E9-6B42-4335-AB96-0D8C4A03E796}"/>
              </a:ext>
            </a:extLst>
          </p:cNvPr>
          <p:cNvSpPr>
            <a:spLocks noGrp="1"/>
          </p:cNvSpPr>
          <p:nvPr/>
        </p:nvSpPr>
        <p:spPr>
          <a:xfrm>
            <a:off x="914400" y="47434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46B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에디터 사용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51C200-8E87-47C1-95CB-164ED34FA04B}"/>
              </a:ext>
            </a:extLst>
          </p:cNvPr>
          <p:cNvSpPr>
            <a:spLocks noGrp="1"/>
          </p:cNvSpPr>
          <p:nvPr/>
        </p:nvSpPr>
        <p:spPr>
          <a:xfrm>
            <a:off x="914400" y="5048250"/>
            <a:ext cx="4686300" cy="685800"/>
          </a:xfrm>
          <a:prstGeom prst="rect">
            <a:avLst/>
          </a:prstGeom>
          <a:solidFill>
            <a:srgbClr val="FFF3D6"/>
          </a:solidFill>
          <a:ln w="9525">
            <a:solidFill>
              <a:srgbClr val="B7791F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1200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Trigger Actor의 BindingOverrides 배열에 항목을 추가하고, BindingTag와 Actors를 채운다.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E6EBF5E-C873-45DC-B02A-E8FE65ED3275}"/>
              </a:ext>
            </a:extLst>
          </p:cNvPr>
          <p:cNvSpPr>
            <a:spLocks noGrp="1"/>
          </p:cNvSpPr>
          <p:nvPr/>
        </p:nvSpPr>
        <p:spPr>
          <a:xfrm>
            <a:off x="6591300" y="5048250"/>
            <a:ext cx="4686300" cy="685800"/>
          </a:xfrm>
          <a:prstGeom prst="rect">
            <a:avLst/>
          </a:prstGeom>
          <a:solidFill>
            <a:srgbClr val="E5F6F4"/>
          </a:solidFill>
          <a:ln w="9525">
            <a:solidFill>
              <a:srgbClr val="0B8F8A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1200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스킬 코드에서는 Request.BindingOverrides에 같은 구조체를 넣어 Director로 넘긴다.</a:t>
            </a:r>
          </a:p>
        </p:txBody>
      </p:sp>
    </p:spTree>
    <p:extLst>
      <p:ext uri="{BB962C8B-B14F-4D97-AF65-F5344CB8AC3E}">
        <p14:creationId xmlns:p14="http://schemas.microsoft.com/office/powerpoint/2010/main" val="1918311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11B75A56-F3BE-42F8-A857-6D453706DA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731C707-6712-4049-8258-3407352575C8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66675" cy="209550"/>
          </a:xfrm>
          <a:prstGeom prst="rect">
            <a:avLst/>
          </a:prstGeom>
          <a:solidFill>
            <a:srgbClr val="246B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37A16F2-2CB3-4D62-824E-C8769B4D8553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6B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PARTICIPANTS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0E601B-290E-4B11-8361-08D0E532BCAE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멈춤 정책은 ParticipantComponent가 자기 액터 기준으로 처리한다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985176-CC8A-4A21-8DDC-D123437562F5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942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C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677A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Director는 시작/종료만 알리고, 입력/AI/Tick/Animation 복구는 각 컴포넌트가 책임진다.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26C7A7B-79EE-4F59-88E9-7B4A403EB3E6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1809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1809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Project_MJS Cinematic Editor Guide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2604A5A-38F6-4F6E-9F61-8EFCDEE0D695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2343150" cy="1104900"/>
          </a:xfrm>
          <a:prstGeom prst="rect">
            <a:avLst/>
          </a:prstGeom>
          <a:solidFill>
            <a:srgbClr val="E8F0FF"/>
          </a:solidFill>
          <a:ln w="9525">
            <a:solidFill>
              <a:srgbClr val="246BFE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12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Player Participant</a:t>
            </a:r>
          </a:p>
          <a:p>
            <a:endParaRPr sz="1125" b="1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ctr">
              <a:defRPr sz="112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Move Input Lock</a:t>
            </a:r>
          </a:p>
          <a:p>
            <a:pPr algn="ctr">
              <a:defRPr sz="112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Look Input Lock</a:t>
            </a:r>
          </a:p>
          <a:p>
            <a:pPr algn="ctr">
              <a:defRPr sz="112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Movement Disable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777E0B5-C80D-4569-9CC2-E491715CC3CB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2343150" cy="1104900"/>
          </a:xfrm>
          <a:prstGeom prst="rect">
            <a:avLst/>
          </a:prstGeom>
          <a:solidFill>
            <a:srgbClr val="FCE7E7"/>
          </a:solidFill>
          <a:ln w="9525">
            <a:solidFill>
              <a:srgbClr val="C24141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12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Enemy Participant</a:t>
            </a:r>
          </a:p>
          <a:p>
            <a:endParaRPr sz="1125" b="1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ctr">
              <a:defRPr sz="112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bPauseAILogic</a:t>
            </a:r>
          </a:p>
          <a:p>
            <a:pPr algn="ctr">
              <a:defRPr sz="112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Tick Lock</a:t>
            </a:r>
          </a:p>
          <a:p>
            <a:pPr algn="ctr">
              <a:defRPr sz="112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Animation Pause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D9FBD88-0D5E-4AB1-A6C9-9DAAE64039F7}"/>
              </a:ext>
            </a:extLst>
          </p:cNvPr>
          <p:cNvSpPr>
            <a:spLocks noGrp="1"/>
          </p:cNvSpPr>
          <p:nvPr/>
        </p:nvSpPr>
        <p:spPr>
          <a:xfrm>
            <a:off x="3276600" y="2571750"/>
            <a:ext cx="1238250" cy="28575"/>
          </a:xfrm>
          <a:prstGeom prst="rect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7BB43BE-0E41-41D3-B536-AF5BB3CBE40A}"/>
              </a:ext>
            </a:extLst>
          </p:cNvPr>
          <p:cNvSpPr>
            <a:spLocks noGrp="1"/>
          </p:cNvSpPr>
          <p:nvPr/>
        </p:nvSpPr>
        <p:spPr>
          <a:xfrm>
            <a:off x="4343400" y="24384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B8C4D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C4D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ptos"/>
              </a:rPr>
              <a:t>&gt;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76E7B48-985B-487E-B8B6-EDD51941A2E8}"/>
              </a:ext>
            </a:extLst>
          </p:cNvPr>
          <p:cNvSpPr>
            <a:spLocks noGrp="1"/>
          </p:cNvSpPr>
          <p:nvPr/>
        </p:nvSpPr>
        <p:spPr>
          <a:xfrm>
            <a:off x="3276600" y="4191000"/>
            <a:ext cx="1238250" cy="28575"/>
          </a:xfrm>
          <a:prstGeom prst="rect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4FB180-D44A-473E-82CA-1B9E100425AE}"/>
              </a:ext>
            </a:extLst>
          </p:cNvPr>
          <p:cNvSpPr>
            <a:spLocks noGrp="1"/>
          </p:cNvSpPr>
          <p:nvPr/>
        </p:nvSpPr>
        <p:spPr>
          <a:xfrm>
            <a:off x="4343400" y="40576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B8C4D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C4D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ptos"/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D09BF30-5ACF-49F9-889B-D631B0A7F2C8}"/>
              </a:ext>
            </a:extLst>
          </p:cNvPr>
          <p:cNvSpPr>
            <a:spLocks noGrp="1"/>
          </p:cNvSpPr>
          <p:nvPr/>
        </p:nvSpPr>
        <p:spPr>
          <a:xfrm>
            <a:off x="4762500" y="2628900"/>
            <a:ext cx="264795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182235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CinematicDirectorSubsystem</a:t>
            </a:r>
            <a:endParaRPr sz="1200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endParaRPr sz="1200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OnCinematicStarted</a:t>
            </a:r>
            <a:endParaRPr sz="1200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ctr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OnCinematicEnded</a:t>
            </a:r>
            <a:endParaRPr sz="1200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FC31974-4FF4-4607-8FFE-1324A63FC6D5}"/>
              </a:ext>
            </a:extLst>
          </p:cNvPr>
          <p:cNvSpPr>
            <a:spLocks noGrp="1"/>
          </p:cNvSpPr>
          <p:nvPr/>
        </p:nvSpPr>
        <p:spPr>
          <a:xfrm>
            <a:off x="7677150" y="3352800"/>
            <a:ext cx="1143000" cy="28575"/>
          </a:xfrm>
          <a:prstGeom prst="rect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A280AB9-AFF0-472C-A1D2-C06D997ADB4B}"/>
              </a:ext>
            </a:extLst>
          </p:cNvPr>
          <p:cNvSpPr>
            <a:spLocks noGrp="1"/>
          </p:cNvSpPr>
          <p:nvPr/>
        </p:nvSpPr>
        <p:spPr>
          <a:xfrm>
            <a:off x="8648700" y="32194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B8C4D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C4D4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ptos"/>
              </a:rPr>
              <a:t>&gt;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1E1A618-1567-48BF-B9A0-67BE0231B5BE}"/>
              </a:ext>
            </a:extLst>
          </p:cNvPr>
          <p:cNvSpPr>
            <a:spLocks noGrp="1"/>
          </p:cNvSpPr>
          <p:nvPr/>
        </p:nvSpPr>
        <p:spPr>
          <a:xfrm>
            <a:off x="9067800" y="2038350"/>
            <a:ext cx="2266950" cy="1104900"/>
          </a:xfrm>
          <a:prstGeom prst="rect">
            <a:avLst/>
          </a:prstGeom>
          <a:solidFill>
            <a:srgbClr val="E8F6EC"/>
          </a:solidFill>
          <a:ln w="9525">
            <a:solidFill>
              <a:srgbClr val="267A3E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12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InputLockSubsystem</a:t>
            </a:r>
          </a:p>
          <a:p>
            <a:endParaRPr sz="1125" b="1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ctr">
              <a:defRPr sz="112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Acquire handle</a:t>
            </a:r>
          </a:p>
          <a:p>
            <a:pPr algn="ctr">
              <a:defRPr sz="112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Release handle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582044-BDC3-4E5F-9422-C7A50959A83A}"/>
              </a:ext>
            </a:extLst>
          </p:cNvPr>
          <p:cNvSpPr>
            <a:spLocks noGrp="1"/>
          </p:cNvSpPr>
          <p:nvPr/>
        </p:nvSpPr>
        <p:spPr>
          <a:xfrm>
            <a:off x="9067800" y="3638550"/>
            <a:ext cx="2266950" cy="1104900"/>
          </a:xfrm>
          <a:prstGeom prst="rect">
            <a:avLst/>
          </a:prstGeom>
          <a:solidFill>
            <a:srgbClr val="FFF3D6"/>
          </a:solidFill>
          <a:ln w="9525">
            <a:solidFill>
              <a:srgbClr val="B7791F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12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AI Brain</a:t>
            </a:r>
          </a:p>
          <a:p>
            <a:endParaRPr sz="1125" b="1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ctr">
              <a:defRPr sz="112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PauseLogic</a:t>
            </a:r>
          </a:p>
          <a:p>
            <a:pPr algn="ctr">
              <a:defRPr sz="112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ResumeLogic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0676D38-F2A0-42AB-AC43-FAFCEAA3E312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46B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에디터 팁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68DCBCD-504A-4871-BF55-8945A5954E72}"/>
              </a:ext>
            </a:extLst>
          </p:cNvPr>
          <p:cNvSpPr>
            <a:spLocks noGrp="1"/>
          </p:cNvSpPr>
          <p:nvPr/>
        </p:nvSpPr>
        <p:spPr>
          <a:xfrm>
            <a:off x="819150" y="5524500"/>
            <a:ext cx="10553700" cy="457200"/>
          </a:xfrm>
          <a:prstGeom prst="rect">
            <a:avLst/>
          </a:prstGeom>
          <a:solidFill>
            <a:srgbClr val="182235"/>
          </a:solidFill>
          <a:ln w="9525">
            <a:solidFill>
              <a:srgbClr val="182235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플레이어는 입력/이동 잠금 위주, Enemy/NPC는 bPauseAILogic과 Tick/Animation 옵션을 필요할 때만 켠다.</a:t>
            </a:r>
          </a:p>
        </p:txBody>
      </p:sp>
    </p:spTree>
    <p:extLst>
      <p:ext uri="{BB962C8B-B14F-4D97-AF65-F5344CB8AC3E}">
        <p14:creationId xmlns:p14="http://schemas.microsoft.com/office/powerpoint/2010/main" val="1756841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88010B38-F622-4952-8F2F-D454D34ECD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263E957-54F9-4E27-B634-002A0B8E4C8B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66675" cy="209550"/>
          </a:xfrm>
          <a:prstGeom prst="rect">
            <a:avLst/>
          </a:prstGeom>
          <a:solidFill>
            <a:srgbClr val="246B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492F67F-5F8E-48FF-BAAC-FC6D24B6C3D5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6B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PIE CHECKLIST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667C2B-B3B2-4BCD-B572-85996982C111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처음 테스트는 Debug Anchor를 켠 짧은 시퀀스로 확인한다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E09474-7241-444D-B72B-384CE460342A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942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C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677A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위치, 회전, 바인딩, 복구 순서만 통과하면 이후 카메라 컷과 VFX를 늘린다.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CFECF75-338A-480F-817F-C7EB801E9EFC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1809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1809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Project_MJS Cinematic Editor Guide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A9566D-050D-473F-936B-0DBF96B3B242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400050" cy="400050"/>
          </a:xfrm>
          <a:prstGeom prst="rect">
            <a:avLst/>
          </a:prstGeom>
          <a:solidFill>
            <a:srgbClr val="B7791F"/>
          </a:solidFill>
          <a:ln w="0">
            <a:solidFill>
              <a:srgbClr val="B7791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6C1544-824B-48AB-9C72-0BAE95243DC6}"/>
              </a:ext>
            </a:extLst>
          </p:cNvPr>
          <p:cNvSpPr>
            <a:spLocks noGrp="1"/>
          </p:cNvSpPr>
          <p:nvPr/>
        </p:nvSpPr>
        <p:spPr>
          <a:xfrm>
            <a:off x="1257300" y="2076450"/>
            <a:ext cx="2667000" cy="762000"/>
          </a:xfrm>
          <a:prstGeom prst="rect">
            <a:avLst/>
          </a:prstGeom>
          <a:solidFill>
            <a:srgbClr val="FFF3D6"/>
          </a:solidFill>
          <a:ln w="9525">
            <a:solidFill>
              <a:srgbClr val="B7791F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Debug 켜기</a:t>
            </a: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bDrawDebugAnchor ON</a:t>
            </a: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Scale 120 / Duration 3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D53B552-E859-4C67-9370-A025261417DD}"/>
              </a:ext>
            </a:extLst>
          </p:cNvPr>
          <p:cNvSpPr>
            <a:spLocks noGrp="1"/>
          </p:cNvSpPr>
          <p:nvPr/>
        </p:nvSpPr>
        <p:spPr>
          <a:xfrm>
            <a:off x="742950" y="3200400"/>
            <a:ext cx="400050" cy="400050"/>
          </a:xfrm>
          <a:prstGeom prst="rect">
            <a:avLst/>
          </a:prstGeom>
          <a:solidFill>
            <a:srgbClr val="246BFE"/>
          </a:solidFill>
          <a:ln w="0">
            <a:solidFill>
              <a:srgbClr val="246BFE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E2D60BF-234F-491F-8659-92455968C13D}"/>
              </a:ext>
            </a:extLst>
          </p:cNvPr>
          <p:cNvSpPr>
            <a:spLocks noGrp="1"/>
          </p:cNvSpPr>
          <p:nvPr/>
        </p:nvSpPr>
        <p:spPr>
          <a:xfrm>
            <a:off x="1257300" y="3200400"/>
            <a:ext cx="2667000" cy="762000"/>
          </a:xfrm>
          <a:prstGeom prst="rect">
            <a:avLst/>
          </a:prstGeom>
          <a:solidFill>
            <a:srgbClr val="E8F0FF"/>
          </a:solidFill>
          <a:ln w="9525">
            <a:solidFill>
              <a:srgbClr val="246BFE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위치 확인</a:t>
            </a: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플레이어/타겟/트리거 기준</a:t>
            </a: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원점이 맞는지 확인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EC136C1-5A09-489A-9557-6DDBA9B6EDBC}"/>
              </a:ext>
            </a:extLst>
          </p:cNvPr>
          <p:cNvSpPr>
            <a:spLocks noGrp="1"/>
          </p:cNvSpPr>
          <p:nvPr/>
        </p:nvSpPr>
        <p:spPr>
          <a:xfrm>
            <a:off x="742950" y="4324350"/>
            <a:ext cx="400050" cy="400050"/>
          </a:xfrm>
          <a:prstGeom prst="rect">
            <a:avLst/>
          </a:prstGeom>
          <a:solidFill>
            <a:srgbClr val="0B8F8A"/>
          </a:solidFill>
          <a:ln w="0">
            <a:solidFill>
              <a:srgbClr val="0B8F8A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3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C8A3CC-F249-48D8-817F-39C9A7F17F4F}"/>
              </a:ext>
            </a:extLst>
          </p:cNvPr>
          <p:cNvSpPr>
            <a:spLocks noGrp="1"/>
          </p:cNvSpPr>
          <p:nvPr/>
        </p:nvSpPr>
        <p:spPr>
          <a:xfrm>
            <a:off x="1257300" y="4324350"/>
            <a:ext cx="2667000" cy="762000"/>
          </a:xfrm>
          <a:prstGeom prst="rect">
            <a:avLst/>
          </a:prstGeom>
          <a:solidFill>
            <a:srgbClr val="E5F6F4"/>
          </a:solidFill>
          <a:ln w="9525">
            <a:solidFill>
              <a:srgbClr val="0B8F8A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회전 확인</a:t>
            </a: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캐릭터 전방인지</a:t>
            </a:r>
          </a:p>
          <a:p>
            <a:pPr algn="l">
              <a:defRPr sz="1125" b="0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카메라 yaw인지 확인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43AC2FE-1325-4249-94C6-BF329E0CD0D7}"/>
              </a:ext>
            </a:extLst>
          </p:cNvPr>
          <p:cNvSpPr>
            <a:spLocks noGrp="1"/>
          </p:cNvSpPr>
          <p:nvPr/>
        </p:nvSpPr>
        <p:spPr>
          <a:xfrm>
            <a:off x="4895850" y="2038350"/>
            <a:ext cx="28956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182235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통과</a:t>
            </a:r>
            <a:r>
              <a:rPr sz="1275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1275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기준</a:t>
            </a:r>
            <a:endParaRPr sz="1275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endParaRPr sz="1275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l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1. </a:t>
            </a:r>
            <a:r>
              <a:rPr sz="11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SequenceActor가</a:t>
            </a:r>
            <a:r>
              <a:rPr sz="110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11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기대</a:t>
            </a:r>
            <a:r>
              <a:rPr sz="110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11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위치에</a:t>
            </a:r>
            <a:r>
              <a:rPr sz="110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11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생성</a:t>
            </a:r>
            <a:endParaRPr sz="1100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l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2. </a:t>
            </a:r>
            <a:r>
              <a:rPr sz="11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카메라</a:t>
            </a:r>
            <a:r>
              <a:rPr sz="110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11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컷이</a:t>
            </a:r>
            <a:r>
              <a:rPr sz="110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11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올바른</a:t>
            </a:r>
            <a:r>
              <a:rPr sz="110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11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방향</a:t>
            </a:r>
            <a:endParaRPr sz="1100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l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3. Player/Target Binding </a:t>
            </a:r>
            <a:r>
              <a:rPr sz="11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교체</a:t>
            </a:r>
            <a:r>
              <a:rPr sz="110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11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성공</a:t>
            </a:r>
            <a:endParaRPr sz="1100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l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4. </a:t>
            </a:r>
            <a:r>
              <a:rPr sz="11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입력</a:t>
            </a:r>
            <a:r>
              <a:rPr sz="110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/AI/</a:t>
            </a:r>
            <a:r>
              <a:rPr sz="11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이동이</a:t>
            </a:r>
            <a:r>
              <a:rPr sz="110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11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종료</a:t>
            </a:r>
            <a:r>
              <a:rPr sz="110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뒤 </a:t>
            </a:r>
            <a:r>
              <a:rPr sz="11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복구</a:t>
            </a:r>
            <a:endParaRPr sz="1100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l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5. </a:t>
            </a:r>
            <a:r>
              <a:rPr sz="11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기존</a:t>
            </a:r>
            <a:r>
              <a:rPr sz="110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11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ViewTarget으로</a:t>
            </a:r>
            <a:r>
              <a:rPr sz="1100" b="1" dirty="0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 </a:t>
            </a:r>
            <a:r>
              <a:rPr sz="1100" b="1" dirty="0" err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복귀</a:t>
            </a:r>
            <a:endParaRPr sz="1100" b="1" dirty="0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5B3A07-A36F-4F45-9339-007E9A6D2652}"/>
              </a:ext>
            </a:extLst>
          </p:cNvPr>
          <p:cNvSpPr>
            <a:spLocks noGrp="1"/>
          </p:cNvSpPr>
          <p:nvPr/>
        </p:nvSpPr>
        <p:spPr>
          <a:xfrm>
            <a:off x="8439150" y="2038350"/>
            <a:ext cx="2895600" cy="2667000"/>
          </a:xfrm>
          <a:prstGeom prst="rect">
            <a:avLst/>
          </a:prstGeom>
          <a:solidFill>
            <a:srgbClr val="FCE7E7"/>
          </a:solidFill>
          <a:ln w="9525">
            <a:solidFill>
              <a:srgbClr val="C24141"/>
            </a:solidFill>
            <a:prstDash val="solid"/>
          </a:ln>
        </p:spPr>
        <p:txBody>
          <a:bodyPr lIns="133350" tIns="95250" rIns="133350" bIns="95250" anchor="ctr"/>
          <a:lstStyle/>
          <a:p>
            <a:pPr algn="l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문제 추적 순서</a:t>
            </a:r>
          </a:p>
          <a:p>
            <a:endParaRPr sz="1275" b="1">
              <a:solidFill>
                <a:srgbClr val="152033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Malgun Gothic"/>
            </a:endParaRPr>
          </a:p>
          <a:p>
            <a:pPr algn="l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AnchorMode</a:t>
            </a:r>
          </a:p>
          <a:p>
            <a:pPr algn="l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RotationSource</a:t>
            </a:r>
          </a:p>
          <a:p>
            <a:pPr algn="l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RelativeTransform</a:t>
            </a:r>
          </a:p>
          <a:p>
            <a:pPr algn="l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BindingTag 이름</a:t>
            </a:r>
          </a:p>
          <a:p>
            <a:pPr algn="l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Participant 옵션</a:t>
            </a:r>
          </a:p>
          <a:p>
            <a:pPr algn="l">
              <a:defRPr sz="1275" b="1">
                <a:solidFill>
                  <a:srgbClr val="15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20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NetworkPolicy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9C5B7B2-56A7-4ABC-87B0-5BCDC73FA01C}"/>
              </a:ext>
            </a:extLst>
          </p:cNvPr>
          <p:cNvSpPr>
            <a:spLocks noGrp="1"/>
          </p:cNvSpPr>
          <p:nvPr/>
        </p:nvSpPr>
        <p:spPr>
          <a:xfrm>
            <a:off x="1981200" y="5600700"/>
            <a:ext cx="8229600" cy="438150"/>
          </a:xfrm>
          <a:prstGeom prst="rect">
            <a:avLst/>
          </a:prstGeom>
          <a:solidFill>
            <a:srgbClr val="182235"/>
          </a:solidFill>
          <a:ln w="9525">
            <a:solidFill>
              <a:srgbClr val="182235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</a:rPr>
              <a:t>짧은 1.5초 테스트 시퀀스에서 통과시킨 뒤, 궁극기 컷인/포스트프로세스/VFX를 붙인다.</a:t>
            </a:r>
          </a:p>
        </p:txBody>
      </p:sp>
    </p:spTree>
    <p:extLst>
      <p:ext uri="{BB962C8B-B14F-4D97-AF65-F5344CB8AC3E}">
        <p14:creationId xmlns:p14="http://schemas.microsoft.com/office/powerpoint/2010/main" val="30590696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728</Words>
  <Application>Microsoft Office PowerPoint</Application>
  <DocSecurity>0</DocSecurity>
  <PresentationFormat>와이드스크린</PresentationFormat>
  <Paragraphs>204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나눔스퀘어 네오 Bold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Park Yongseok</cp:lastModifiedBy>
  <cp:revision>3</cp:revision>
  <dcterms:created xsi:type="dcterms:W3CDTF">2026-06-14T18:33:54Z</dcterms:created>
  <dcterms:modified xsi:type="dcterms:W3CDTF">2026-06-14T19:50:12Z</dcterms:modified>
</cp:coreProperties>
</file>