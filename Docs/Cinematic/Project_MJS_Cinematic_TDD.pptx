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46" d="100"/>
          <a:sy n="146" d="100"/>
        </p:scale>
        <p:origin x="8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2C4893-275B-47FE-B26F-A1CB206FC9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216F61-B8BE-4717-8A28-921937B5EEE4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F9E2F2-4249-4EBC-89E8-23037F0B20B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TECHNICAL DESIGN DOCUMENT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47596C-3D65-4B12-9C2C-5EC065022CBD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Project_MJS 시네마틱 재생 구조 TDD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A8924C-66DE-4553-A5A7-C5182C17177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왜 이렇게 구현했는지, 스킬 코드에서는 어떻게 호출하는지, 에디터에서는 무엇을 세팅해야 하는지 정리한다.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C18BCE-7EFB-4287-B0E2-FCB62B348C84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AFBB16-F10D-4E96-B7AD-0EC006206FCF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3429000" cy="142875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핵심 목표</a:t>
            </a:r>
          </a:p>
          <a:p>
            <a:endParaRPr sz="13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전투 로직은 Montage/Notify가 책임지고,</a:t>
            </a: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Sequencer는 카메라와 연출을 담당한다.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214DB7-A31A-4F8F-9CF3-A8A6E3B2D5F1}"/>
              </a:ext>
            </a:extLst>
          </p:cNvPr>
          <p:cNvSpPr>
            <a:spLocks noGrp="1"/>
          </p:cNvSpPr>
          <p:nvPr/>
        </p:nvSpPr>
        <p:spPr>
          <a:xfrm>
            <a:off x="4381500" y="2133600"/>
            <a:ext cx="3429000" cy="142875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사용 대상</a:t>
            </a:r>
          </a:p>
          <a:p>
            <a:endParaRPr sz="13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궁극기 컷인</a:t>
            </a: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스킬 연출</a:t>
            </a: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레벨 트리거 컷신</a:t>
            </a: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보스 등장/전환 연출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ABD4E1-2E32-4F6B-8A4F-03FE125FA873}"/>
              </a:ext>
            </a:extLst>
          </p:cNvPr>
          <p:cNvSpPr>
            <a:spLocks noGrp="1"/>
          </p:cNvSpPr>
          <p:nvPr/>
        </p:nvSpPr>
        <p:spPr>
          <a:xfrm>
            <a:off x="8039100" y="2133600"/>
            <a:ext cx="3429000" cy="142875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설계 원칙</a:t>
            </a:r>
          </a:p>
          <a:p>
            <a:endParaRPr sz="13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요청자와 반응자를 분리하고,</a:t>
            </a:r>
          </a:p>
          <a:p>
            <a:pPr algn="ctr">
              <a:def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3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Director가 재생 흐름만 중앙 조정한다.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86A33D-D246-4BF2-857D-86D3030FA881}"/>
              </a:ext>
            </a:extLst>
          </p:cNvPr>
          <p:cNvSpPr>
            <a:spLocks noGrp="1"/>
          </p:cNvSpPr>
          <p:nvPr/>
        </p:nvSpPr>
        <p:spPr>
          <a:xfrm>
            <a:off x="1200150" y="4095750"/>
            <a:ext cx="209550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Dynamic Anchor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1F77A5-D1D1-484A-9CC2-B7F1CB1318FA}"/>
              </a:ext>
            </a:extLst>
          </p:cNvPr>
          <p:cNvSpPr>
            <a:spLocks noGrp="1"/>
          </p:cNvSpPr>
          <p:nvPr/>
        </p:nvSpPr>
        <p:spPr>
          <a:xfrm>
            <a:off x="3676650" y="4095750"/>
            <a:ext cx="2095500" cy="2667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rPr>
              <a:t>Binding Override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B08496-41A1-4CC9-95EE-44706565706C}"/>
              </a:ext>
            </a:extLst>
          </p:cNvPr>
          <p:cNvSpPr>
            <a:spLocks noGrp="1"/>
          </p:cNvSpPr>
          <p:nvPr/>
        </p:nvSpPr>
        <p:spPr>
          <a:xfrm>
            <a:off x="6153150" y="4095750"/>
            <a:ext cx="209550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Participant Lock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D5DEE5-870C-4FFF-A361-EFB086161ACE}"/>
              </a:ext>
            </a:extLst>
          </p:cNvPr>
          <p:cNvSpPr>
            <a:spLocks noGrp="1"/>
          </p:cNvSpPr>
          <p:nvPr/>
        </p:nvSpPr>
        <p:spPr>
          <a:xfrm>
            <a:off x="8629650" y="4095750"/>
            <a:ext cx="2095500" cy="2667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rPr>
              <a:t>Editor Workflow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BAA915-A6E1-4553-8517-C45AC663F427}"/>
              </a:ext>
            </a:extLst>
          </p:cNvPr>
          <p:cNvSpPr>
            <a:spLocks noGrp="1"/>
          </p:cNvSpPr>
          <p:nvPr/>
        </p:nvSpPr>
        <p:spPr>
          <a:xfrm>
            <a:off x="1771650" y="5219700"/>
            <a:ext cx="8648700" cy="4953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이 PPT는 구현 설명서이면서, 스킬 코드와 에디터 세팅을 그대로 따라 할 수 있는 작업 가이드다.</a:t>
            </a:r>
          </a:p>
        </p:txBody>
      </p:sp>
    </p:spTree>
    <p:extLst>
      <p:ext uri="{BB962C8B-B14F-4D97-AF65-F5344CB8AC3E}">
        <p14:creationId xmlns:p14="http://schemas.microsoft.com/office/powerpoint/2010/main" val="33903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E97A05-C1EA-4216-89A5-75553E50A7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819815-FAB0-41A4-88B3-B2E2CEF6E27E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8D1893-4716-4146-8FC1-84517B3148D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CORE DECISION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9CD01D-209F-4D8B-86C8-D1DBAAF98F47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전투와 시퀀서를 분리한 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26C477-14CA-4F4B-8FA9-414578759CD6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시퀀서가 전투 시스템을 대신하면 캔슬, 피격, 무적, 타격 판정, 복구 흐름이 쉽게 꼬인다.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7B0C8E-50AA-457B-9892-697769021A20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7DBC52-77D0-4BCE-90C2-7717DE49A7EA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667000" cy="15621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전투 책임</a:t>
            </a:r>
          </a:p>
          <a:p>
            <a:endParaRPr sz="120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AnimMontage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AnimNotify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HitWindow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Damage 처리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Cancel Window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215667-799E-4618-AFD4-56630BF3032B}"/>
              </a:ext>
            </a:extLst>
          </p:cNvPr>
          <p:cNvSpPr>
            <a:spLocks noGrp="1"/>
          </p:cNvSpPr>
          <p:nvPr/>
        </p:nvSpPr>
        <p:spPr>
          <a:xfrm>
            <a:off x="3638550" y="2781300"/>
            <a:ext cx="12382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E7734B-5271-4A58-8FEE-93C023E7AEEE}"/>
              </a:ext>
            </a:extLst>
          </p:cNvPr>
          <p:cNvSpPr>
            <a:spLocks noGrp="1"/>
          </p:cNvSpPr>
          <p:nvPr/>
        </p:nvSpPr>
        <p:spPr>
          <a:xfrm>
            <a:off x="4724400" y="26479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20CDB1-1F68-40A4-ABB3-77352535364D}"/>
              </a:ext>
            </a:extLst>
          </p:cNvPr>
          <p:cNvSpPr>
            <a:spLocks noGrp="1"/>
          </p:cNvSpPr>
          <p:nvPr/>
        </p:nvSpPr>
        <p:spPr>
          <a:xfrm>
            <a:off x="5143500" y="2038350"/>
            <a:ext cx="2667000" cy="15621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시네마틱 책임</a:t>
            </a:r>
          </a:p>
          <a:p>
            <a:endParaRPr sz="120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Camera Cut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FOV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PostProcess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Cinematic VFX</a:t>
            </a: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ViewTarget 복구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C88240-10F8-466B-A88C-5396B01D99A5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12382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793F85-C80A-4D4D-8977-469E05393769}"/>
              </a:ext>
            </a:extLst>
          </p:cNvPr>
          <p:cNvSpPr>
            <a:spLocks noGrp="1"/>
          </p:cNvSpPr>
          <p:nvPr/>
        </p:nvSpPr>
        <p:spPr>
          <a:xfrm>
            <a:off x="9182100" y="26479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1E0645-E8EE-4EFB-9180-9D81F460C830}"/>
              </a:ext>
            </a:extLst>
          </p:cNvPr>
          <p:cNvSpPr>
            <a:spLocks noGrp="1"/>
          </p:cNvSpPr>
          <p:nvPr/>
        </p:nvSpPr>
        <p:spPr>
          <a:xfrm>
            <a:off x="9601200" y="2038350"/>
            <a:ext cx="1905000" cy="15621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공통 요청</a:t>
            </a:r>
          </a:p>
          <a:p>
            <a:endParaRPr sz="120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FCinematicPlaybackRequest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72F421-DC10-4773-858A-D1DAFEA7ABDB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4762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왜 Montage를 유지했나</a:t>
            </a:r>
          </a:p>
          <a:p>
            <a:endParaRPr sz="1065" b="0">
              <a:solidFill>
                <a:srgbClr val="152033"/>
              </a:solidFill>
              <a:latin typeface="나눔스퀘어 네오 Regular"/>
              <a:ea typeface="나눔스퀘어 네오 Regular"/>
              <a:cs typeface="나눔스퀘어 네오 Regular"/>
            </a:endParaRPr>
          </a:p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기본 공격과 짧은 스킬은 입력 반응성, 콤보 큐, Notify 기반 판정이 중요하다. 이 영역을 Sequencer로 옮기면 전투 시스템이 연출 타임라인에 종속된다.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628144-3316-4D01-B9C6-A53225EBA562}"/>
              </a:ext>
            </a:extLst>
          </p:cNvPr>
          <p:cNvSpPr>
            <a:spLocks noGrp="1"/>
          </p:cNvSpPr>
          <p:nvPr/>
        </p:nvSpPr>
        <p:spPr>
          <a:xfrm>
            <a:off x="6515100" y="4210050"/>
            <a:ext cx="4762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왜 Sequencer를 붙였나</a:t>
            </a:r>
          </a:p>
          <a:p>
            <a:endParaRPr sz="1065" b="0">
              <a:solidFill>
                <a:srgbClr val="152033"/>
              </a:solidFill>
              <a:latin typeface="나눔스퀘어 네오 Regular"/>
              <a:ea typeface="나눔스퀘어 네오 Regular"/>
              <a:cs typeface="나눔스퀘어 네오 Regular"/>
            </a:endParaRPr>
          </a:p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궁극기나 컷인은 카메라 컷, FOV, 후처리, 연출용 VFX처럼 타임라인 편집이 강한 영역이다. 전투 판정과 분리하면 재사용과 복구가 쉬워진다.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B64D10-7B97-407B-BB2E-04ABE686212D}"/>
              </a:ext>
            </a:extLst>
          </p:cNvPr>
          <p:cNvSpPr>
            <a:spLocks noGrp="1"/>
          </p:cNvSpPr>
          <p:nvPr/>
        </p:nvSpPr>
        <p:spPr>
          <a:xfrm>
            <a:off x="2266950" y="5753100"/>
            <a:ext cx="7658100" cy="400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결론: 전투는 코드/몽타주, 연출은 Sequencer, 둘 사이 연결은 Request가 담당한다.</a:t>
            </a:r>
          </a:p>
        </p:txBody>
      </p:sp>
    </p:spTree>
    <p:extLst>
      <p:ext uri="{BB962C8B-B14F-4D97-AF65-F5344CB8AC3E}">
        <p14:creationId xmlns:p14="http://schemas.microsoft.com/office/powerpoint/2010/main" val="81993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0E460C-9A58-4828-BAB7-8D68359AA2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12FF89-7E72-4013-972A-343F7CC4EC71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8084BD-CC27-4164-B3C5-0C2357E2849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ARCHITECTURE DIAGRAM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3DE5D-57EB-4119-A311-6D9FA832D69F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요청자, 실행자, 반응자를 분리한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60A0FC-6F26-45EB-A5A9-C817675772F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스킬 코드와 트리거는 재생 요청만 만들고, Director와 Participant가 나머지를 나눠 처리한다.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C27D4-74AF-4192-9951-86C242666883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8CD853-90FE-4439-A4E1-6F8D8E2F391E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2095500" cy="8763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SkillComponent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궁극기/스킬 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E1D852-9124-4909-B30A-922B3438FB39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2095500" cy="8763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CinematicTriggerActor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레벨 오버랩/이벤트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9CC9BA-739F-49D2-8EF5-AC6EDA2E979F}"/>
              </a:ext>
            </a:extLst>
          </p:cNvPr>
          <p:cNvSpPr>
            <a:spLocks noGrp="1"/>
          </p:cNvSpPr>
          <p:nvPr/>
        </p:nvSpPr>
        <p:spPr>
          <a:xfrm>
            <a:off x="2914650" y="2495550"/>
            <a:ext cx="10668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AFB220-0183-451C-AB70-137A111CD199}"/>
              </a:ext>
            </a:extLst>
          </p:cNvPr>
          <p:cNvSpPr>
            <a:spLocks noGrp="1"/>
          </p:cNvSpPr>
          <p:nvPr/>
        </p:nvSpPr>
        <p:spPr>
          <a:xfrm>
            <a:off x="3829050" y="23622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C2BABD-CFB1-495D-B0AF-D92F1797CEDF}"/>
              </a:ext>
            </a:extLst>
          </p:cNvPr>
          <p:cNvSpPr>
            <a:spLocks noGrp="1"/>
          </p:cNvSpPr>
          <p:nvPr/>
        </p:nvSpPr>
        <p:spPr>
          <a:xfrm>
            <a:off x="2914650" y="3848100"/>
            <a:ext cx="10668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876473-A57C-47EF-B55F-2FE74A797E8A}"/>
              </a:ext>
            </a:extLst>
          </p:cNvPr>
          <p:cNvSpPr>
            <a:spLocks noGrp="1"/>
          </p:cNvSpPr>
          <p:nvPr/>
        </p:nvSpPr>
        <p:spPr>
          <a:xfrm>
            <a:off x="3829050" y="37147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8FBFDA-DA77-419C-8AA0-3393F9B86E09}"/>
              </a:ext>
            </a:extLst>
          </p:cNvPr>
          <p:cNvSpPr>
            <a:spLocks noGrp="1"/>
          </p:cNvSpPr>
          <p:nvPr/>
        </p:nvSpPr>
        <p:spPr>
          <a:xfrm>
            <a:off x="4210050" y="2647950"/>
            <a:ext cx="25717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FCinematicPlaybackRequest</a:t>
            </a:r>
          </a:p>
          <a:p>
            <a:endParaRPr sz="108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Sequence</a:t>
            </a:r>
          </a:p>
          <a:p>
            <a:pPr algn="ctr">
              <a:def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Instigator / Subject</a:t>
            </a:r>
          </a:p>
          <a:p>
            <a:pPr algn="ctr">
              <a:def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Anchor / Rotation</a:t>
            </a:r>
          </a:p>
          <a:p>
            <a:pPr algn="ctr">
              <a:def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Binding / Network / Debug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F798A6-6FC6-4528-82AB-079B11E10A53}"/>
              </a:ext>
            </a:extLst>
          </p:cNvPr>
          <p:cNvSpPr>
            <a:spLocks noGrp="1"/>
          </p:cNvSpPr>
          <p:nvPr/>
        </p:nvSpPr>
        <p:spPr>
          <a:xfrm>
            <a:off x="7029450" y="3276600"/>
            <a:ext cx="10287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2D9E92-CA3C-43FC-97E0-62870F0036EC}"/>
              </a:ext>
            </a:extLst>
          </p:cNvPr>
          <p:cNvSpPr>
            <a:spLocks noGrp="1"/>
          </p:cNvSpPr>
          <p:nvPr/>
        </p:nvSpPr>
        <p:spPr>
          <a:xfrm>
            <a:off x="7905750" y="31432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8420F9-15AE-45C5-943C-02AC7211A236}"/>
              </a:ext>
            </a:extLst>
          </p:cNvPr>
          <p:cNvSpPr>
            <a:spLocks noGrp="1"/>
          </p:cNvSpPr>
          <p:nvPr/>
        </p:nvSpPr>
        <p:spPr>
          <a:xfrm>
            <a:off x="8305800" y="2343150"/>
            <a:ext cx="2952750" cy="192405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UCinematicDirectorSubsystem</a:t>
            </a:r>
          </a:p>
          <a:p>
            <a:endParaRPr sz="1065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LevelSequencePlayer 생성</a:t>
            </a:r>
          </a:p>
          <a:p>
            <a:pPr algn="ctr">
              <a:def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Transform Origin 적용</a:t>
            </a:r>
          </a:p>
          <a:p>
            <a:pPr algn="ctr">
              <a:def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Binding Override 적용</a:t>
            </a:r>
          </a:p>
          <a:p>
            <a:pPr algn="ctr">
              <a:def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Participant 시작/종료 알림</a:t>
            </a:r>
          </a:p>
          <a:p>
            <a:pPr algn="ctr">
              <a:def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6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ViewTarget 복구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B0E685-3F86-4F12-A4FA-134F2CB361D1}"/>
              </a:ext>
            </a:extLst>
          </p:cNvPr>
          <p:cNvSpPr>
            <a:spLocks noGrp="1"/>
          </p:cNvSpPr>
          <p:nvPr/>
        </p:nvSpPr>
        <p:spPr>
          <a:xfrm>
            <a:off x="9772650" y="4419600"/>
            <a:ext cx="28575" cy="49530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AD0064-5778-49EF-9684-0BDEF3C8F293}"/>
              </a:ext>
            </a:extLst>
          </p:cNvPr>
          <p:cNvSpPr>
            <a:spLocks noGrp="1"/>
          </p:cNvSpPr>
          <p:nvPr/>
        </p:nvSpPr>
        <p:spPr>
          <a:xfrm>
            <a:off x="9677400" y="48006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v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C07949-2E05-49CC-A7B6-E5EEDFD431E7}"/>
              </a:ext>
            </a:extLst>
          </p:cNvPr>
          <p:cNvSpPr>
            <a:spLocks noGrp="1"/>
          </p:cNvSpPr>
          <p:nvPr/>
        </p:nvSpPr>
        <p:spPr>
          <a:xfrm>
            <a:off x="8001000" y="5105400"/>
            <a:ext cx="3619500" cy="6858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9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9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UCinematicParticipantComponent</a:t>
            </a:r>
          </a:p>
          <a:p>
            <a:pPr algn="ctr">
              <a:defRPr sz="109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9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입력, 이동, AI, Tick, Animation 정지/복구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264EB2-4578-4EAD-9EAE-4602B3CD0A8D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247650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요청자는 반응 정책을 모른다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1B5173-BE1C-448D-8816-0B8AE37FDED4}"/>
              </a:ext>
            </a:extLst>
          </p:cNvPr>
          <p:cNvSpPr>
            <a:spLocks noGrp="1"/>
          </p:cNvSpPr>
          <p:nvPr/>
        </p:nvSpPr>
        <p:spPr>
          <a:xfrm>
            <a:off x="3390900" y="5143500"/>
            <a:ext cx="247650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Director는 재생 흐름만 안다</a:t>
            </a:r>
          </a:p>
        </p:txBody>
      </p:sp>
    </p:spTree>
    <p:extLst>
      <p:ext uri="{BB962C8B-B14F-4D97-AF65-F5344CB8AC3E}">
        <p14:creationId xmlns:p14="http://schemas.microsoft.com/office/powerpoint/2010/main" val="172866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5565DA-D329-4821-A4A2-9E27F84DE9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3959CA-54D7-489B-AB20-187A2000F84B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D9F78F-EC93-41D1-A763-EB58E29752A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SEQUENCE FLOW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2729A9-95B0-4870-AE12-0B799AE3022C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PlayCinematic은 검증, 생성, 배치, 알림, 복구 순서로 진행된다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639A77-8666-4D3A-8D66-C9FCC3AF87B8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이 순서를 고정해두면 스킬 컷신과 일반 컷신이 같은 종료/복구 규칙을 공유한다.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B4E5BA-B46F-4852-A227-497233F198E3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DE9581-0B1D-4511-AC59-092857025D37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381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5477CD-10AC-48FD-92E8-598770F4B634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rPr>
              <a:t>요청자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32A5C1-FBA9-4A08-8FC8-C0781E4B78FC}"/>
              </a:ext>
            </a:extLst>
          </p:cNvPr>
          <p:cNvSpPr>
            <a:spLocks noGrp="1"/>
          </p:cNvSpPr>
          <p:nvPr/>
        </p:nvSpPr>
        <p:spPr>
          <a:xfrm>
            <a:off x="3238500" y="2038350"/>
            <a:ext cx="2857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700A6C-7689-412F-9F0F-7CE2AD62550B}"/>
              </a:ext>
            </a:extLst>
          </p:cNvPr>
          <p:cNvSpPr>
            <a:spLocks noGrp="1"/>
          </p:cNvSpPr>
          <p:nvPr/>
        </p:nvSpPr>
        <p:spPr>
          <a:xfrm>
            <a:off x="3352800" y="21145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rPr>
              <a:t>Director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200BAC-0331-47A0-A79A-9D1A3DCFBB50}"/>
              </a:ext>
            </a:extLst>
          </p:cNvPr>
          <p:cNvSpPr>
            <a:spLocks noGrp="1"/>
          </p:cNvSpPr>
          <p:nvPr/>
        </p:nvSpPr>
        <p:spPr>
          <a:xfrm>
            <a:off x="6362700" y="2038350"/>
            <a:ext cx="2381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E3CA9C-3A0A-42D1-8902-7611D87E1261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rPr>
              <a:t>SequenceActor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941A90-9908-4BD9-AC52-D79DBC2E4C95}"/>
              </a:ext>
            </a:extLst>
          </p:cNvPr>
          <p:cNvSpPr>
            <a:spLocks noGrp="1"/>
          </p:cNvSpPr>
          <p:nvPr/>
        </p:nvSpPr>
        <p:spPr>
          <a:xfrm>
            <a:off x="9010650" y="2038350"/>
            <a:ext cx="2381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FAA664-F503-4736-9F3A-A93941E3124A}"/>
              </a:ext>
            </a:extLst>
          </p:cNvPr>
          <p:cNvSpPr>
            <a:spLocks noGrp="1"/>
          </p:cNvSpPr>
          <p:nvPr/>
        </p:nvSpPr>
        <p:spPr>
          <a:xfrm>
            <a:off x="9124950" y="2114550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647084"/>
                </a:solidFill>
                <a:latin typeface="나눔스퀘어 네오 Bold"/>
                <a:ea typeface="나눔스퀘어 네오 Bold"/>
                <a:cs typeface="나눔스퀘어 네오 Bold"/>
              </a:rPr>
              <a:t>Participant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7BAD61-4BEB-4F47-A8EF-EB718BDD0EE3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1866900" cy="5334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Request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DB2254-FBF2-4705-AC71-16D2D18F55B2}"/>
              </a:ext>
            </a:extLst>
          </p:cNvPr>
          <p:cNvSpPr>
            <a:spLocks noGrp="1"/>
          </p:cNvSpPr>
          <p:nvPr/>
        </p:nvSpPr>
        <p:spPr>
          <a:xfrm>
            <a:off x="2781300" y="2762250"/>
            <a:ext cx="6667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750F1E-5131-4392-A954-77AEF0D1148F}"/>
              </a:ext>
            </a:extLst>
          </p:cNvPr>
          <p:cNvSpPr>
            <a:spLocks noGrp="1"/>
          </p:cNvSpPr>
          <p:nvPr/>
        </p:nvSpPr>
        <p:spPr>
          <a:xfrm>
            <a:off x="3295650" y="26289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371080-08E1-44B8-A321-A8195F241B75}"/>
              </a:ext>
            </a:extLst>
          </p:cNvPr>
          <p:cNvSpPr>
            <a:spLocks noGrp="1"/>
          </p:cNvSpPr>
          <p:nvPr/>
        </p:nvSpPr>
        <p:spPr>
          <a:xfrm>
            <a:off x="3638550" y="2495550"/>
            <a:ext cx="2057400" cy="5334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NetworkPolicy 검사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AE54DF-03BD-4541-8DB5-CB856C24FBB5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28575" cy="3238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AB8534-3202-46A0-B8EA-A5C21A8A5FA5}"/>
              </a:ext>
            </a:extLst>
          </p:cNvPr>
          <p:cNvSpPr>
            <a:spLocks noGrp="1"/>
          </p:cNvSpPr>
          <p:nvPr/>
        </p:nvSpPr>
        <p:spPr>
          <a:xfrm>
            <a:off x="4572000" y="3314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v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951B32-3F88-4A19-BFF0-8B4BC3B76EFF}"/>
              </a:ext>
            </a:extLst>
          </p:cNvPr>
          <p:cNvSpPr>
            <a:spLocks noGrp="1"/>
          </p:cNvSpPr>
          <p:nvPr/>
        </p:nvSpPr>
        <p:spPr>
          <a:xfrm>
            <a:off x="3638550" y="3562350"/>
            <a:ext cx="2057400" cy="5334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Player/SequenceActor 생성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91032A7-F732-4331-AD3F-6D2D8D26B2D8}"/>
              </a:ext>
            </a:extLst>
          </p:cNvPr>
          <p:cNvSpPr>
            <a:spLocks noGrp="1"/>
          </p:cNvSpPr>
          <p:nvPr/>
        </p:nvSpPr>
        <p:spPr>
          <a:xfrm>
            <a:off x="5772150" y="3829050"/>
            <a:ext cx="7429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066FDB-02D8-4C35-B23A-59B8C5A0BD70}"/>
              </a:ext>
            </a:extLst>
          </p:cNvPr>
          <p:cNvSpPr>
            <a:spLocks noGrp="1"/>
          </p:cNvSpPr>
          <p:nvPr/>
        </p:nvSpPr>
        <p:spPr>
          <a:xfrm>
            <a:off x="6362700" y="3695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803A4F-EC97-46C6-81AB-8FD63BEB5E44}"/>
              </a:ext>
            </a:extLst>
          </p:cNvPr>
          <p:cNvSpPr>
            <a:spLocks noGrp="1"/>
          </p:cNvSpPr>
          <p:nvPr/>
        </p:nvSpPr>
        <p:spPr>
          <a:xfrm>
            <a:off x="6667500" y="3562350"/>
            <a:ext cx="1771650" cy="5334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Transform Origin 적용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A84AE5-FA47-4AE7-9960-79A570D5F058}"/>
              </a:ext>
            </a:extLst>
          </p:cNvPr>
          <p:cNvSpPr>
            <a:spLocks noGrp="1"/>
          </p:cNvSpPr>
          <p:nvPr/>
        </p:nvSpPr>
        <p:spPr>
          <a:xfrm>
            <a:off x="7562850" y="4171950"/>
            <a:ext cx="28575" cy="3238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6730EC-8D2E-4F46-8C19-7C2595197FAB}"/>
              </a:ext>
            </a:extLst>
          </p:cNvPr>
          <p:cNvSpPr>
            <a:spLocks noGrp="1"/>
          </p:cNvSpPr>
          <p:nvPr/>
        </p:nvSpPr>
        <p:spPr>
          <a:xfrm>
            <a:off x="7467600" y="43815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200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v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160F6F-55B3-470D-A5CA-D7C8616FE25F}"/>
              </a:ext>
            </a:extLst>
          </p:cNvPr>
          <p:cNvSpPr>
            <a:spLocks noGrp="1"/>
          </p:cNvSpPr>
          <p:nvPr/>
        </p:nvSpPr>
        <p:spPr>
          <a:xfrm>
            <a:off x="6667500" y="4629150"/>
            <a:ext cx="1771650" cy="5334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Binding Tag 교체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A4D7C7-E4A5-49D5-B049-0246840F0ED7}"/>
              </a:ext>
            </a:extLst>
          </p:cNvPr>
          <p:cNvSpPr>
            <a:spLocks noGrp="1"/>
          </p:cNvSpPr>
          <p:nvPr/>
        </p:nvSpPr>
        <p:spPr>
          <a:xfrm>
            <a:off x="8515350" y="4895850"/>
            <a:ext cx="6667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FFEA61-8E27-4994-B4A2-57D8BD07DF54}"/>
              </a:ext>
            </a:extLst>
          </p:cNvPr>
          <p:cNvSpPr>
            <a:spLocks noGrp="1"/>
          </p:cNvSpPr>
          <p:nvPr/>
        </p:nvSpPr>
        <p:spPr>
          <a:xfrm>
            <a:off x="9029700" y="47625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3CC5631-7EF0-4F80-B3AB-9846C496ACFF}"/>
              </a:ext>
            </a:extLst>
          </p:cNvPr>
          <p:cNvSpPr>
            <a:spLocks noGrp="1"/>
          </p:cNvSpPr>
          <p:nvPr/>
        </p:nvSpPr>
        <p:spPr>
          <a:xfrm>
            <a:off x="9334500" y="4629150"/>
            <a:ext cx="1771650" cy="5334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Started/Ended 알림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520E630-3BD4-46ED-9876-8BA58F6CC994}"/>
              </a:ext>
            </a:extLst>
          </p:cNvPr>
          <p:cNvSpPr>
            <a:spLocks noGrp="1"/>
          </p:cNvSpPr>
          <p:nvPr/>
        </p:nvSpPr>
        <p:spPr>
          <a:xfrm>
            <a:off x="1866900" y="5867400"/>
            <a:ext cx="8458200" cy="400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핵심은 재생 시작보다 종료 복구다. 종료가 한 곳에 모여 있어야 입력/카메라/참가자 상태가 덜 꼬인다.</a:t>
            </a:r>
          </a:p>
        </p:txBody>
      </p:sp>
    </p:spTree>
    <p:extLst>
      <p:ext uri="{BB962C8B-B14F-4D97-AF65-F5344CB8AC3E}">
        <p14:creationId xmlns:p14="http://schemas.microsoft.com/office/powerpoint/2010/main" val="100644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E27E6D7-217B-44DC-98E8-BB239D1B64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5EE40-F707-42F0-8657-0803728E6055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886BBA-9B94-4581-BFF9-2B9F66946BC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CLASS RESPONSIBILITY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899C39-68C2-485D-8518-5BD181C53E89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각 클래스는 하나의 책임만 크게 가진다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35389C-8F36-4D47-B44D-1691D9F2911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요청 데이터, 재생 관리자, 에디터 트리거, 참가자 반응, 입력 잠금을 분리했다.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920708-A47B-485D-9E62-A8A919ADCC44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834334-D704-4C3B-8644-EC36E89B5163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285750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FCinematicPlaybackRequest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DFA3E0-A1ED-43DD-A71E-D18553891275}"/>
              </a:ext>
            </a:extLst>
          </p:cNvPr>
          <p:cNvSpPr>
            <a:spLocks noGrp="1"/>
          </p:cNvSpPr>
          <p:nvPr/>
        </p:nvSpPr>
        <p:spPr>
          <a:xfrm>
            <a:off x="3905250" y="1981200"/>
            <a:ext cx="7429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무엇을 재생할지와 어디 기준으로 재생할지를 담는 요청서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AB2012-9017-4465-85F4-E6059BA5CD12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285750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UCinematicDirectorSubsystem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1BB741-381B-422D-AA13-031F1A3DAAB6}"/>
              </a:ext>
            </a:extLst>
          </p:cNvPr>
          <p:cNvSpPr>
            <a:spLocks noGrp="1"/>
          </p:cNvSpPr>
          <p:nvPr/>
        </p:nvSpPr>
        <p:spPr>
          <a:xfrm>
            <a:off x="3905250" y="2667000"/>
            <a:ext cx="7429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SequencePlayer 생성, Transform Origin, Binding, 참가자 알림, ViewTarget 복구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2A29DB-DCA5-46D0-8369-D8F54EA8EA8E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2857500" cy="2667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rPr>
              <a:t>ACinematicTriggerActor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CDCF43-90E7-4B20-9340-59B96466BCD6}"/>
              </a:ext>
            </a:extLst>
          </p:cNvPr>
          <p:cNvSpPr>
            <a:spLocks noGrp="1"/>
          </p:cNvSpPr>
          <p:nvPr/>
        </p:nvSpPr>
        <p:spPr>
          <a:xfrm>
            <a:off x="3905250" y="3352800"/>
            <a:ext cx="7429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레벨에 배치되어 오버랩/이벤트 조건으로 Request를 만든다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06B454-385F-4793-979C-AAA9C097F9FA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2857500" cy="2667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rPr>
              <a:t>UCinematicParticipantComponent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4CC15F-FFEF-4FD1-8E48-C55F6182FC2B}"/>
              </a:ext>
            </a:extLst>
          </p:cNvPr>
          <p:cNvSpPr>
            <a:spLocks noGrp="1"/>
          </p:cNvSpPr>
          <p:nvPr/>
        </p:nvSpPr>
        <p:spPr>
          <a:xfrm>
            <a:off x="3905250" y="4038600"/>
            <a:ext cx="7429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시네마틱 시작/종료에 맞춰 입력, 이동, AI, Tick, Animation을 멈추고 복구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508265-E378-483B-A094-73C6B0705EAA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2857500" cy="266700"/>
          </a:xfrm>
          <a:prstGeom prst="rect">
            <a:avLst/>
          </a:prstGeom>
          <a:solidFill>
            <a:srgbClr val="E7F6ED"/>
          </a:solidFill>
          <a:ln w="9525">
            <a:solidFill>
              <a:srgbClr val="25834D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834D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834D"/>
                </a:solidFill>
                <a:latin typeface="나눔스퀘어 네오 Bold"/>
                <a:ea typeface="나눔스퀘어 네오 Bold"/>
                <a:cs typeface="나눔스퀘어 네오 Bold"/>
              </a:rPr>
              <a:t>UCinematicInputLockSubsystem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DB8D5E-AC14-4E87-B67B-5AE43CBD4D8B}"/>
              </a:ext>
            </a:extLst>
          </p:cNvPr>
          <p:cNvSpPr>
            <a:spLocks noGrp="1"/>
          </p:cNvSpPr>
          <p:nvPr/>
        </p:nvSpPr>
        <p:spPr>
          <a:xfrm>
            <a:off x="3905250" y="4724400"/>
            <a:ext cx="7429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88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입력 잠금을 핸들 기반으로 관리해 다른 시스템 잠금과 충돌을 줄인다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483E21-BF24-4325-9D69-885300CBF34A}"/>
              </a:ext>
            </a:extLst>
          </p:cNvPr>
          <p:cNvSpPr>
            <a:spLocks noGrp="1"/>
          </p:cNvSpPr>
          <p:nvPr/>
        </p:nvSpPr>
        <p:spPr>
          <a:xfrm>
            <a:off x="1276350" y="5657850"/>
            <a:ext cx="9639300" cy="4572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63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63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설계 의도: 새로운 보스, NPC, 트리거가 추가되어도 기존 스킬/Director 코드를 덜 건드리게 만든다.</a:t>
            </a:r>
          </a:p>
        </p:txBody>
      </p:sp>
    </p:spTree>
    <p:extLst>
      <p:ext uri="{BB962C8B-B14F-4D97-AF65-F5344CB8AC3E}">
        <p14:creationId xmlns:p14="http://schemas.microsoft.com/office/powerpoint/2010/main" val="172594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D43DEB-8F90-4A81-8F4C-25FF77A712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7E7622-61EE-4FBB-9CEC-260A9AB89FE4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E23D9-851A-49FC-8F70-244ECD9F179A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DYNAMIC TRANSFORM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018B22-144A-414A-880C-9A4C91B59538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시퀀스 에셋은 로컬 기준으로 만들고, 런타임에서 월드에 꽂는다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862A5B-070D-4FD8-8D14-C545E136CD4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플레이어 위치, 타겟 방향, 카메라 yaw를 조합하기 위해 AnchorMode와 RotationSource를 분리했다.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BDBFC8-5A12-4EB7-8876-6786D86ED303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8197D9-221B-4B69-8E27-263DB7BF8A92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95500" cy="78105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AnchorMode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위치 기준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01A7B5-6844-4E25-89D9-7E43B5167156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904875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7D7655-448C-466A-BDBF-5922D40F007A}"/>
              </a:ext>
            </a:extLst>
          </p:cNvPr>
          <p:cNvSpPr>
            <a:spLocks noGrp="1"/>
          </p:cNvSpPr>
          <p:nvPr/>
        </p:nvSpPr>
        <p:spPr>
          <a:xfrm>
            <a:off x="3781425" y="24384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890825-925F-4FB3-9621-22E7AE4C989E}"/>
              </a:ext>
            </a:extLst>
          </p:cNvPr>
          <p:cNvSpPr>
            <a:spLocks noGrp="1"/>
          </p:cNvSpPr>
          <p:nvPr/>
        </p:nvSpPr>
        <p:spPr>
          <a:xfrm>
            <a:off x="4152900" y="2190750"/>
            <a:ext cx="2095500" cy="78105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RotationSource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회전 기준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737807-A06D-4C07-885A-53B1BB19BAB0}"/>
              </a:ext>
            </a:extLst>
          </p:cNvPr>
          <p:cNvSpPr>
            <a:spLocks noGrp="1"/>
          </p:cNvSpPr>
          <p:nvPr/>
        </p:nvSpPr>
        <p:spPr>
          <a:xfrm>
            <a:off x="6457950" y="2571750"/>
            <a:ext cx="904875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CA14D1-995B-4779-951A-FB563FA1EFF7}"/>
              </a:ext>
            </a:extLst>
          </p:cNvPr>
          <p:cNvSpPr>
            <a:spLocks noGrp="1"/>
          </p:cNvSpPr>
          <p:nvPr/>
        </p:nvSpPr>
        <p:spPr>
          <a:xfrm>
            <a:off x="7210425" y="24384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710AB8-0E7A-4AD2-8C78-A0D5122AB0F3}"/>
              </a:ext>
            </a:extLst>
          </p:cNvPr>
          <p:cNvSpPr>
            <a:spLocks noGrp="1"/>
          </p:cNvSpPr>
          <p:nvPr/>
        </p:nvSpPr>
        <p:spPr>
          <a:xfrm>
            <a:off x="7581900" y="2190750"/>
            <a:ext cx="2095500" cy="78105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RelativeTransform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로컬 오프셋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94D2D4-84AF-4792-B010-0D053B5CC124}"/>
              </a:ext>
            </a:extLst>
          </p:cNvPr>
          <p:cNvSpPr>
            <a:spLocks noGrp="1"/>
          </p:cNvSpPr>
          <p:nvPr/>
        </p:nvSpPr>
        <p:spPr>
          <a:xfrm>
            <a:off x="9886950" y="2571750"/>
            <a:ext cx="5905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633173-DFD4-44D2-90B7-A8FC1C7BBD1E}"/>
              </a:ext>
            </a:extLst>
          </p:cNvPr>
          <p:cNvSpPr>
            <a:spLocks noGrp="1"/>
          </p:cNvSpPr>
          <p:nvPr/>
        </p:nvSpPr>
        <p:spPr>
          <a:xfrm>
            <a:off x="10325100" y="24384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2A51D8-6583-4CE8-8741-58C224B502EB}"/>
              </a:ext>
            </a:extLst>
          </p:cNvPr>
          <p:cNvSpPr>
            <a:spLocks noGrp="1"/>
          </p:cNvSpPr>
          <p:nvPr/>
        </p:nvSpPr>
        <p:spPr>
          <a:xfrm>
            <a:off x="10572750" y="2190750"/>
            <a:ext cx="990600" cy="78105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Final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Origin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12FB81-107F-435E-9F8F-3B404C95472F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30670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왜 ActorTransform만 쓰지 않았나</a:t>
            </a:r>
          </a:p>
          <a:p>
            <a:endParaRPr sz="1013" b="0">
              <a:solidFill>
                <a:srgbClr val="152033"/>
              </a:solidFill>
              <a:latin typeface="나눔스퀘어 네오 Regular"/>
              <a:ea typeface="나눔스퀘어 네오 Regular"/>
              <a:cs typeface="나눔스퀘어 네오 Regular"/>
            </a:endParaRPr>
          </a:p>
          <a:p>
            <a:pPr algn="l">
              <a:def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시퀀서의 절대 Transform Section까지 동적 원점 기준으로 평가하려면 UDefaultLevelSequenceInstanceData.TransformOrigin이 필요하다.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CE5FAD-7596-4DC5-B0DD-B310FE2AB91E}"/>
              </a:ext>
            </a:extLst>
          </p:cNvPr>
          <p:cNvSpPr>
            <a:spLocks noGrp="1"/>
          </p:cNvSpPr>
          <p:nvPr/>
        </p:nvSpPr>
        <p:spPr>
          <a:xfrm>
            <a:off x="4572000" y="3676650"/>
            <a:ext cx="30670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왜 회전을 분리했나</a:t>
            </a:r>
          </a:p>
          <a:p>
            <a:endParaRPr sz="1013" b="0">
              <a:solidFill>
                <a:srgbClr val="152033"/>
              </a:solidFill>
              <a:latin typeface="나눔스퀘어 네오 Regular"/>
              <a:ea typeface="나눔스퀘어 네오 Regular"/>
              <a:cs typeface="나눔스퀘어 네오 Regular"/>
            </a:endParaRPr>
          </a:p>
          <a:p>
            <a:pPr algn="l">
              <a:def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위치는 플레이어 기준이지만 방향은 카메라 기준인 스킬이 있다. 그래서 위치 기준과 회전 기준을 별도로 선택한다.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BED6FB-3DF8-4441-A8E8-A16BA659722D}"/>
              </a:ext>
            </a:extLst>
          </p:cNvPr>
          <p:cNvSpPr>
            <a:spLocks noGrp="1"/>
          </p:cNvSpPr>
          <p:nvPr/>
        </p:nvSpPr>
        <p:spPr>
          <a:xfrm>
            <a:off x="8286750" y="3676650"/>
            <a:ext cx="30670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왜 bUseYawOnly가 기본인가</a:t>
            </a:r>
          </a:p>
          <a:p>
            <a:endParaRPr sz="1013" b="0">
              <a:solidFill>
                <a:srgbClr val="152033"/>
              </a:solidFill>
              <a:latin typeface="나눔스퀘어 네오 Regular"/>
              <a:ea typeface="나눔스퀘어 네오 Regular"/>
              <a:cs typeface="나눔스퀘어 네오 Regular"/>
            </a:endParaRPr>
          </a:p>
          <a:p>
            <a:pPr algn="l">
              <a:def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13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지상 액션 컷신에서 Pitch/Roll까지 따라가면 카메라나 캐릭터가 기울어 보일 수 있다. 보통 Yaw만 사용한다.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DED8F2-4C78-41D1-82CF-3D99ADA53717}"/>
              </a:ext>
            </a:extLst>
          </p:cNvPr>
          <p:cNvSpPr>
            <a:spLocks noGrp="1"/>
          </p:cNvSpPr>
          <p:nvPr/>
        </p:nvSpPr>
        <p:spPr>
          <a:xfrm>
            <a:off x="2190750" y="5638800"/>
            <a:ext cx="7810500" cy="4191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실행 시 최종 Transform은 RelativeTransform * AnchorTransform으로 계산된다.</a:t>
            </a:r>
          </a:p>
        </p:txBody>
      </p:sp>
    </p:spTree>
    <p:extLst>
      <p:ext uri="{BB962C8B-B14F-4D97-AF65-F5344CB8AC3E}">
        <p14:creationId xmlns:p14="http://schemas.microsoft.com/office/powerpoint/2010/main" val="17770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4F5E9D-6DA5-4F1A-B5F5-F8A9D42474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6ECE52-1B2B-469E-9526-69D89EA2C6F7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B316A0-8652-4189-A909-DFA4D21FF77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BINDING OVERRIDE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CF388A-153A-4F1F-9225-E572F7AF43DA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Sequencer Binding Tag로 Player, Target, Weapon을 런타임에 연결한다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1BDA26-2425-4F7D-8E53-F2A52AD1CEF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컷신 에셋을 특정 캐릭터 BP에 고정하지 않기 위한 구조다.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32B9D-DDD6-408B-99DF-CEF67BE7618E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90D173-F849-4A5F-91B5-D423239F9CFD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4193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Sequencer 에셋</a:t>
            </a:r>
          </a:p>
          <a:p>
            <a:endParaRPr sz="1125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Actor Binding 우클릭</a:t>
            </a:r>
          </a:p>
          <a:p>
            <a:pPr algn="ctr">
              <a:def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Tags...</a:t>
            </a:r>
          </a:p>
          <a:p>
            <a:endParaRPr sz="1125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Player</a:t>
            </a:r>
          </a:p>
          <a:p>
            <a:pPr algn="ctr">
              <a:def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Target</a:t>
            </a:r>
          </a:p>
          <a:p>
            <a:pPr algn="ctr">
              <a:def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Weapon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85C4D1-754D-40A7-860A-9FF0829EA58A}"/>
              </a:ext>
            </a:extLst>
          </p:cNvPr>
          <p:cNvSpPr>
            <a:spLocks noGrp="1"/>
          </p:cNvSpPr>
          <p:nvPr/>
        </p:nvSpPr>
        <p:spPr>
          <a:xfrm>
            <a:off x="3429000" y="3028950"/>
            <a:ext cx="10096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993A68-E928-4A7F-AD2E-A05CE4ABEBDE}"/>
              </a:ext>
            </a:extLst>
          </p:cNvPr>
          <p:cNvSpPr>
            <a:spLocks noGrp="1"/>
          </p:cNvSpPr>
          <p:nvPr/>
        </p:nvSpPr>
        <p:spPr>
          <a:xfrm>
            <a:off x="4286250" y="28956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0910A8-8334-4A4D-8582-6C0ED67F6BF5}"/>
              </a:ext>
            </a:extLst>
          </p:cNvPr>
          <p:cNvSpPr>
            <a:spLocks noGrp="1"/>
          </p:cNvSpPr>
          <p:nvPr/>
        </p:nvSpPr>
        <p:spPr>
          <a:xfrm>
            <a:off x="4705350" y="2171700"/>
            <a:ext cx="2800350" cy="177165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FCinematicBindingOverride</a:t>
            </a:r>
          </a:p>
          <a:p>
            <a:endParaRPr sz="1088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BindingTag = Player</a:t>
            </a:r>
          </a:p>
          <a:p>
            <a:pPr algn="ctr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Actors = BP_Player</a:t>
            </a:r>
          </a:p>
          <a:p>
            <a:endParaRPr sz="1088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BindingTag = Target</a:t>
            </a:r>
          </a:p>
          <a:p>
            <a:pPr algn="ctr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Actors = Boss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0B14C6-47CD-4795-B235-2C0D2F1FEB21}"/>
              </a:ext>
            </a:extLst>
          </p:cNvPr>
          <p:cNvSpPr>
            <a:spLocks noGrp="1"/>
          </p:cNvSpPr>
          <p:nvPr/>
        </p:nvSpPr>
        <p:spPr>
          <a:xfrm>
            <a:off x="7772400" y="3028950"/>
            <a:ext cx="10096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99AD94-1205-4792-8472-F4FFE0DC64EC}"/>
              </a:ext>
            </a:extLst>
          </p:cNvPr>
          <p:cNvSpPr>
            <a:spLocks noGrp="1"/>
          </p:cNvSpPr>
          <p:nvPr/>
        </p:nvSpPr>
        <p:spPr>
          <a:xfrm>
            <a:off x="8629650" y="28956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B6FC54-F6AF-402C-B9FF-8F7ECC5E950D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419350" cy="1771650"/>
          </a:xfrm>
          <a:prstGeom prst="rect">
            <a:avLst/>
          </a:prstGeom>
          <a:solidFill>
            <a:srgbClr val="E7F6ED"/>
          </a:solidFill>
          <a:ln w="9525">
            <a:solidFill>
              <a:srgbClr val="25834D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Runtime 결과</a:t>
            </a:r>
          </a:p>
          <a:p>
            <a:endParaRPr sz="1163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같은 시퀀스가</a:t>
            </a:r>
          </a:p>
          <a:p>
            <a:pPr algn="ctr">
              <a:def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현재 플레이어와</a:t>
            </a:r>
          </a:p>
          <a:p>
            <a:pPr algn="ctr">
              <a:def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63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현재 타겟을 사용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7EE435-7C8B-47ED-BEC1-55322B80AD6A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219075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왜 이렇게 구현했나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2F9877-74E7-48DE-B282-4FDAF9DE4F72}"/>
              </a:ext>
            </a:extLst>
          </p:cNvPr>
          <p:cNvSpPr>
            <a:spLocks noGrp="1"/>
          </p:cNvSpPr>
          <p:nvPr/>
        </p:nvSpPr>
        <p:spPr>
          <a:xfrm>
            <a:off x="3505200" y="4457700"/>
            <a:ext cx="77343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시퀀스 에셋이 BP_PlayerCharacter나 특정 보스 액터를 직접 참조하면 재사용성이 떨어진다. Tag 기반 override는 에셋은 일반화하고 실행 시점에 실제 액터를 끼워 넣는 방식이다.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B87719-3109-405C-9CD1-5620AAEE5519}"/>
              </a:ext>
            </a:extLst>
          </p:cNvPr>
          <p:cNvSpPr>
            <a:spLocks noGrp="1"/>
          </p:cNvSpPr>
          <p:nvPr/>
        </p:nvSpPr>
        <p:spPr>
          <a:xfrm>
            <a:off x="2476500" y="5562600"/>
            <a:ext cx="7239000" cy="400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트리거 컷신은 bBindTriggeringActor로 오버랩 액터를 Player 태그에 자동 연결할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993505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2ADE9BE5-2876-41A9-A26D-E2F655D6EB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5A4C7F-7268-44E2-BCB6-3CB330C9A122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22AA3E-F82A-4818-A318-A9363EBF6A9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PARTICIPANT LOCK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F5FAED-E662-4BB6-AC01-8A57898CEB75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참가자 정지는 Director가 아니라 각 Participant가 처리한다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338DF7-D56E-4313-BDA6-44F8CA3A5E2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플레이어, Enemy, NPC마다 멈춰야 하는 항목이 다르기 때문에 반응 정책을 컴포넌트로 분리했다.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72EF2E-AFE2-4243-9386-2EC0088202B1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B946B0-2B31-43CE-9611-65F7B3182F20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171700" cy="10668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Player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Move Input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Look Input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Movement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EE1A0F-CAC2-4844-9F64-25130230C58D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2171700" cy="10668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Enemy / NPC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AI Brain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Tick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Animation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9ECFA2-C176-420D-945C-AC9434BF2473}"/>
              </a:ext>
            </a:extLst>
          </p:cNvPr>
          <p:cNvSpPr>
            <a:spLocks noGrp="1"/>
          </p:cNvSpPr>
          <p:nvPr/>
        </p:nvSpPr>
        <p:spPr>
          <a:xfrm>
            <a:off x="3124200" y="2647950"/>
            <a:ext cx="11430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5E6F78-3605-4554-824B-F5129EA9E5BE}"/>
              </a:ext>
            </a:extLst>
          </p:cNvPr>
          <p:cNvSpPr>
            <a:spLocks noGrp="1"/>
          </p:cNvSpPr>
          <p:nvPr/>
        </p:nvSpPr>
        <p:spPr>
          <a:xfrm>
            <a:off x="4114800" y="25146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E9D702-939D-42E6-9F90-2D7CF9C7AE2A}"/>
              </a:ext>
            </a:extLst>
          </p:cNvPr>
          <p:cNvSpPr>
            <a:spLocks noGrp="1"/>
          </p:cNvSpPr>
          <p:nvPr/>
        </p:nvSpPr>
        <p:spPr>
          <a:xfrm>
            <a:off x="3124200" y="4248150"/>
            <a:ext cx="11430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2C665F-EF7D-4310-9829-E368200432F9}"/>
              </a:ext>
            </a:extLst>
          </p:cNvPr>
          <p:cNvSpPr>
            <a:spLocks noGrp="1"/>
          </p:cNvSpPr>
          <p:nvPr/>
        </p:nvSpPr>
        <p:spPr>
          <a:xfrm>
            <a:off x="4114800" y="41148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80E464-6798-4463-BC15-531BC4838184}"/>
              </a:ext>
            </a:extLst>
          </p:cNvPr>
          <p:cNvSpPr>
            <a:spLocks noGrp="1"/>
          </p:cNvSpPr>
          <p:nvPr/>
        </p:nvSpPr>
        <p:spPr>
          <a:xfrm>
            <a:off x="4533900" y="2914650"/>
            <a:ext cx="2724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UCinematicParticipantComponent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OnCinematicStarted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OnCinematicEnded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FB7D09-F9A5-494B-B4CD-52D499F69C0B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1239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749B5D-89AC-4166-AC6B-4BFFB98BE1FC}"/>
              </a:ext>
            </a:extLst>
          </p:cNvPr>
          <p:cNvSpPr>
            <a:spLocks noGrp="1"/>
          </p:cNvSpPr>
          <p:nvPr/>
        </p:nvSpPr>
        <p:spPr>
          <a:xfrm>
            <a:off x="8496300" y="3314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D7BEA5-CA18-4443-B85C-5737195D3A13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286000" cy="1066800"/>
          </a:xfrm>
          <a:prstGeom prst="rect">
            <a:avLst/>
          </a:prstGeom>
          <a:solidFill>
            <a:srgbClr val="E7F6ED"/>
          </a:solidFill>
          <a:ln w="9525">
            <a:solidFill>
              <a:srgbClr val="25834D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InputLockSubsystem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AcquireInputLock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ReleaseInputLock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8BBE78-37D0-4FEA-AF61-19CDF470D0B9}"/>
              </a:ext>
            </a:extLst>
          </p:cNvPr>
          <p:cNvSpPr>
            <a:spLocks noGrp="1"/>
          </p:cNvSpPr>
          <p:nvPr/>
        </p:nvSpPr>
        <p:spPr>
          <a:xfrm>
            <a:off x="8915400" y="3714750"/>
            <a:ext cx="2286000" cy="10668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AI BrainComponent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PauseLogic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ResumeLogic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C54E04-EAC3-4C63-995E-7AF16E79C3C6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4191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왜 핸들 방식인가: 내가 획득한 입력 잠금만 해제해서 다른 시스템의 SetIgnoreMoveInput 누적 상태를 덜 건드린다.</a:t>
            </a:r>
          </a:p>
        </p:txBody>
      </p:sp>
    </p:spTree>
    <p:extLst>
      <p:ext uri="{BB962C8B-B14F-4D97-AF65-F5344CB8AC3E}">
        <p14:creationId xmlns:p14="http://schemas.microsoft.com/office/powerpoint/2010/main" val="62037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08B6BC-C3D0-4257-821B-BF3DE4AA07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80576F-BA70-4B6E-A3E9-79C695908A37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B33A30-83AE-4C2F-8A8E-F9D6E733BD3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SKILL CODE PATTERN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52230F-9DBD-483F-9F1E-B61476664B1B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스킬 발동 시에는 Request를 만들고 Director로 넘긴다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EB200-BD61-427B-A178-706465E862AA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스킬 컴포넌트는 쿨타임, 게이지, 캔슬 가능 여부를 검사한 뒤 시네마틱 요청만 생성한다.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D3E8EC-D0CD-4185-8AC5-70713BAC173B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5A620D-3C8B-406D-AE01-2D41BE775E1B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6572250" cy="339090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 lIns="133350" tIns="76200" rIns="133350" bIns="76200" anchor="t"/>
          <a:lstStyle/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FCinematicPlaybackRequest Request;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Request.Sequence = UltimateSequence;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Request.InstigatorActor = PlayerCharacter;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Request.SubjectActor = TargetActor;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Request.PlayerController = PlayerController;</a:t>
            </a:r>
          </a:p>
          <a:p>
            <a:endParaRPr sz="810" b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Request.AnchorMode = ECinematicAnchorMode::InstigatorToSubject;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Request.RotationSource = ECinematicRotationSource::AnchorTransform;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Request.RelativeTransform =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    FTransform(FRotator::ZeroRotator, FVector(120.f, 0.f, 0.f));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Request.bUseYawOnly = true;</a:t>
            </a:r>
          </a:p>
          <a:p>
            <a:endParaRPr sz="810" b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Request.bAffectAllParticipants = true;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Request.NetworkPolicy = ECinematicNetworkPolicy::LocalOnly;</a:t>
            </a:r>
          </a:p>
          <a:p>
            <a:endParaRPr sz="810" b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DirectorSubsystem-&gt;PlayCinematic(Request);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35E480-119B-4E91-9A03-9140850AFD39}"/>
              </a:ext>
            </a:extLst>
          </p:cNvPr>
          <p:cNvSpPr>
            <a:spLocks noGrp="1"/>
          </p:cNvSpPr>
          <p:nvPr/>
        </p:nvSpPr>
        <p:spPr>
          <a:xfrm>
            <a:off x="7753350" y="2133600"/>
            <a:ext cx="180975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어디에 넣나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0EE2DE-2D4D-4F62-8256-6538E7463DDD}"/>
              </a:ext>
            </a:extLst>
          </p:cNvPr>
          <p:cNvSpPr>
            <a:spLocks noGrp="1"/>
          </p:cNvSpPr>
          <p:nvPr/>
        </p:nvSpPr>
        <p:spPr>
          <a:xfrm>
            <a:off x="7753350" y="2533650"/>
            <a:ext cx="3429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USkillComponent::RequestUltimate()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또는 궁극기 입력 처리 함수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5E2C25-C135-488D-9CEF-808F08184806}"/>
              </a:ext>
            </a:extLst>
          </p:cNvPr>
          <p:cNvSpPr>
            <a:spLocks noGrp="1"/>
          </p:cNvSpPr>
          <p:nvPr/>
        </p:nvSpPr>
        <p:spPr>
          <a:xfrm>
            <a:off x="7753350" y="3562350"/>
            <a:ext cx="180975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왜 이렇게 쓰나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3F9B4C-007B-42E6-AB7B-F15ED1E3E015}"/>
              </a:ext>
            </a:extLst>
          </p:cNvPr>
          <p:cNvSpPr>
            <a:spLocks noGrp="1"/>
          </p:cNvSpPr>
          <p:nvPr/>
        </p:nvSpPr>
        <p:spPr>
          <a:xfrm>
            <a:off x="7753350" y="3962400"/>
            <a:ext cx="342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SkillComponent는 전투 조건만 판단한다.</a:t>
            </a:r>
          </a:p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실제 재생, 카메라 복구, 참가자 정지는 Director와 Participant가 맡는다.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E02635-7330-4CDA-A1EC-69A9512F642D}"/>
              </a:ext>
            </a:extLst>
          </p:cNvPr>
          <p:cNvSpPr>
            <a:spLocks noGrp="1"/>
          </p:cNvSpPr>
          <p:nvPr/>
        </p:nvSpPr>
        <p:spPr>
          <a:xfrm>
            <a:off x="1714500" y="5810250"/>
            <a:ext cx="8763000" cy="400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타격 판정은 여전히 AnimNotify/HitWindow에 두고, Sequencer는 연출 타이밍만 담당하게 둔다.</a:t>
            </a:r>
          </a:p>
        </p:txBody>
      </p:sp>
    </p:spTree>
    <p:extLst>
      <p:ext uri="{BB962C8B-B14F-4D97-AF65-F5344CB8AC3E}">
        <p14:creationId xmlns:p14="http://schemas.microsoft.com/office/powerpoint/2010/main" val="134951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706078-11E9-4B5A-8243-1F81CCF68C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77F0A0-0ABF-4A76-AB6A-DCF25B9D8F8A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31C117-6CAA-47AB-B59F-BB21B2F4739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SKILL VARIANTS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D16252-2313-4771-8F9A-E4D43EBE4A4A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스킬 성격에 따라 AnchorMode와 RotationSource만 바꿔 재사용한다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296B6-07BE-48B0-BFC9-2F40C2C3CE7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같은 Director 구조를 쓰되, 플레이어 정면/카메라 방향/타겟 방향 스킬을 데이터처럼 나눈다.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87E114-8B15-490E-807A-DB37C4CE25B8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948C94-190B-4810-A9EB-7BABA9438AD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257550" cy="11811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캐릭터 정면 궁극기</a:t>
            </a:r>
          </a:p>
          <a:p>
            <a:endParaRPr sz="1088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AnchorMode = InstigatorActor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RotationSource = InstigatorActor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bUseYawOnly = true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A8596B-45B7-44B1-80F0-9825C6C4CA64}"/>
              </a:ext>
            </a:extLst>
          </p:cNvPr>
          <p:cNvSpPr>
            <a:spLocks noGrp="1"/>
          </p:cNvSpPr>
          <p:nvPr/>
        </p:nvSpPr>
        <p:spPr>
          <a:xfrm>
            <a:off x="4457700" y="2095500"/>
            <a:ext cx="3257550" cy="11811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카메라 방향 스킬</a:t>
            </a:r>
          </a:p>
          <a:p>
            <a:endParaRPr sz="1088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AnchorMode = InstigatorActor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RotationSource = PlayerCameraRotation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bUseYawOnly = true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0CA6C8-EE79-4336-8221-F23A0140BF33}"/>
              </a:ext>
            </a:extLst>
          </p:cNvPr>
          <p:cNvSpPr>
            <a:spLocks noGrp="1"/>
          </p:cNvSpPr>
          <p:nvPr/>
        </p:nvSpPr>
        <p:spPr>
          <a:xfrm>
            <a:off x="8305800" y="2095500"/>
            <a:ext cx="3257550" cy="11811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타겟 연계기</a:t>
            </a:r>
          </a:p>
          <a:p>
            <a:endParaRPr sz="1088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AnchorMode = InstigatorToSubject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SubjectActor = Target</a:t>
            </a:r>
          </a:p>
          <a:p>
            <a:pPr algn="l">
              <a:def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RelativeTransform으로 거리 보정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5930C3-A3D7-4766-9EED-61646EA66539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4933950" cy="140970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 lIns="133350" tIns="76200" rIns="133350" bIns="76200" anchor="t"/>
          <a:lstStyle/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// 카메라 yaw를 직접 계산해 의존성을 낮추는 방식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Request.AnchorMode = ECinematicAnchorMode::InstigatorActor;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Request.RotationSource = ECinematicRotationSource::ExplicitRotation;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Request.ExplicitRotation = CameraYawOnlyRotation;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Request.RelativeTransform = LocalCastOffset;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F42AC6-DEF0-4A61-A372-B171918FFB66}"/>
              </a:ext>
            </a:extLst>
          </p:cNvPr>
          <p:cNvSpPr>
            <a:spLocks noGrp="1"/>
          </p:cNvSpPr>
          <p:nvPr/>
        </p:nvSpPr>
        <p:spPr>
          <a:xfrm>
            <a:off x="6381750" y="3810000"/>
            <a:ext cx="4933950" cy="140970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 lIns="133350" tIns="76200" rIns="133350" bIns="76200" anchor="t"/>
          <a:lstStyle/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// Sequencer 안의 Player/Target 태그 연결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FCinematicBindingOverride PlayerBinding;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PlayerBinding.BindingTag = TEXT("Player");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PlayerBinding.Actors.Add(PlayerCharacter);</a:t>
            </a:r>
          </a:p>
          <a:p>
            <a:pPr algn="l">
              <a:defRPr sz="810" b="0">
                <a:solidFill>
                  <a:srgbClr val="E8EEF8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Request.BindingOverrides.Add(PlayerBinding);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DD32D5-296F-4B07-A08D-CE7AEF7DD0D5}"/>
              </a:ext>
            </a:extLst>
          </p:cNvPr>
          <p:cNvSpPr>
            <a:spLocks noGrp="1"/>
          </p:cNvSpPr>
          <p:nvPr/>
        </p:nvSpPr>
        <p:spPr>
          <a:xfrm>
            <a:off x="1809750" y="5753100"/>
            <a:ext cx="8572500" cy="400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88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88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추천: Skill DataAsset에는 Sequence, AnchorMode, RotationSource, RelativeTransform, BindingTag 규칙을 같이 둔다.</a:t>
            </a:r>
          </a:p>
        </p:txBody>
      </p:sp>
    </p:spTree>
    <p:extLst>
      <p:ext uri="{BB962C8B-B14F-4D97-AF65-F5344CB8AC3E}">
        <p14:creationId xmlns:p14="http://schemas.microsoft.com/office/powerpoint/2010/main" val="950807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BE6929-B567-4E99-BA42-49B78D7481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CE3DC5-F351-4234-B8ED-8BFD8F31F50F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0A0AA1-2777-4593-9231-7C7A8AF81B6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EDITOR SETUP 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1B8E76-315F-4A00-A975-33FAB30D456B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Level Sequence 에셋은 로컬 원점 기준으로 만들고 Binding Tag를 붙인다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1EB8E2-84EF-4027-BF5C-90356A90F1A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에셋 단계에서 해야 할 일과 런타임 Request가 해야 할 일을 분리한다.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3E1CD1-43E2-4411-8730-583378297C70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4E4356-DAC9-4A9A-8D29-78DA991F3C51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381250" cy="11049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1. Sequence 생성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/Content/Character/Player/Sequence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12C433-9848-4A97-A967-FA23422D9D15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7620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BE178A-04CE-462A-9901-4C105786EE9E}"/>
              </a:ext>
            </a:extLst>
          </p:cNvPr>
          <p:cNvSpPr>
            <a:spLocks noGrp="1"/>
          </p:cNvSpPr>
          <p:nvPr/>
        </p:nvSpPr>
        <p:spPr>
          <a:xfrm>
            <a:off x="3943350" y="2552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5D33CD-E742-45D8-A116-1169021DCDED}"/>
              </a:ext>
            </a:extLst>
          </p:cNvPr>
          <p:cNvSpPr>
            <a:spLocks noGrp="1"/>
          </p:cNvSpPr>
          <p:nvPr/>
        </p:nvSpPr>
        <p:spPr>
          <a:xfrm>
            <a:off x="4362450" y="2133600"/>
            <a:ext cx="2381250" cy="11049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2. 카메라/VFX 구성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Camera Cut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FOV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PostProcess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Niagara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227314-A666-4923-90C5-221BC537CCB3}"/>
              </a:ext>
            </a:extLst>
          </p:cNvPr>
          <p:cNvSpPr>
            <a:spLocks noGrp="1"/>
          </p:cNvSpPr>
          <p:nvPr/>
        </p:nvSpPr>
        <p:spPr>
          <a:xfrm>
            <a:off x="7010400" y="2686050"/>
            <a:ext cx="7620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9DB975-97B1-4445-9D6D-6F5436A8D29C}"/>
              </a:ext>
            </a:extLst>
          </p:cNvPr>
          <p:cNvSpPr>
            <a:spLocks noGrp="1"/>
          </p:cNvSpPr>
          <p:nvPr/>
        </p:nvSpPr>
        <p:spPr>
          <a:xfrm>
            <a:off x="7620000" y="25527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585896-68A7-4622-9ADF-DDD05C118EF4}"/>
              </a:ext>
            </a:extLst>
          </p:cNvPr>
          <p:cNvSpPr>
            <a:spLocks noGrp="1"/>
          </p:cNvSpPr>
          <p:nvPr/>
        </p:nvSpPr>
        <p:spPr>
          <a:xfrm>
            <a:off x="8039100" y="2133600"/>
            <a:ext cx="2914650" cy="11049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3. Binding Tag 지정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Player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Target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Weapon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CameraRig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763059C-75BF-44C1-BF71-A69BD15381B7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905000" cy="2667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rPr>
              <a:t>중요 규칙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4E99AD-533B-468D-B878-52072A10163A}"/>
              </a:ext>
            </a:extLst>
          </p:cNvPr>
          <p:cNvSpPr>
            <a:spLocks noGrp="1"/>
          </p:cNvSpPr>
          <p:nvPr/>
        </p:nvSpPr>
        <p:spPr>
          <a:xfrm>
            <a:off x="3124200" y="3848100"/>
            <a:ext cx="7524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110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10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스킬 컷신 에셋은 특정 월드 좌표에 딱 맞춰 만들기보다, 캐릭터 주변 로컬 원점을 기준으로 만든다. 런타임 위치 보정은 Director의 Transform Origin이 처리한다.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D63748-7545-455B-851E-A4F80B7B2A33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8839200" cy="5143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Sequencer에서 태그를 안 붙이면 BindingOverride가 아무 것도 바꿀 수 없다. Player/Target 태그부터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07320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773D40-0EF5-44D3-A13E-B4F68354BE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0FEFA4-4D62-42AB-82D3-143352FEE312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1E66C6-C839-4480-953D-95F7032BE1A9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EDITOR SETUP 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C29DF0-70F6-4C61-BFC4-C3B2D64A283D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ACinematicTriggerActor Details 패널에서 무엇을 세팅하나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6662E0-1FD3-4753-8D19-EBDC1CDE876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일반 컷신은 코드 없이도 트리거 액터의 디테일 값만으로 상당 부분 구성할 수 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F5D7F0-F98C-4F62-97F2-A3B1F5C219FE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149A65-AC4C-4F00-A5D3-64725760DB17}"/>
              </a:ext>
            </a:extLst>
          </p:cNvPr>
          <p:cNvSpPr>
            <a:spLocks noGrp="1"/>
          </p:cNvSpPr>
          <p:nvPr/>
        </p:nvSpPr>
        <p:spPr>
          <a:xfrm>
            <a:off x="723900" y="2019300"/>
            <a:ext cx="236220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Cinematic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8B92E0-824B-4B92-B4C2-E45B49B09C28}"/>
              </a:ext>
            </a:extLst>
          </p:cNvPr>
          <p:cNvSpPr>
            <a:spLocks noGrp="1"/>
          </p:cNvSpPr>
          <p:nvPr/>
        </p:nvSpPr>
        <p:spPr>
          <a:xfrm>
            <a:off x="3371850" y="2000250"/>
            <a:ext cx="7620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Sequence, RequiredActorClass, bTriggerOnce, bAffectAllParticipants, BlendOutTime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A4230A-9019-4D79-8800-0227A4F0C85B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2362200" cy="2667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rPr>
              <a:t>Cinematic|Binding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E39D22-566D-40E7-A804-4F3112F7000C}"/>
              </a:ext>
            </a:extLst>
          </p:cNvPr>
          <p:cNvSpPr>
            <a:spLocks noGrp="1"/>
          </p:cNvSpPr>
          <p:nvPr/>
        </p:nvSpPr>
        <p:spPr>
          <a:xfrm>
            <a:off x="3371850" y="2686050"/>
            <a:ext cx="7620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bBindTriggeringActor, TriggeringActorBindingTag=Player, BindingOverrides 배열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D2901F-A389-4DA9-B034-218229EE1D55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236220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Cinematic|Dynamic Transform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74DBCD-7E5E-40B3-8264-0AAFFA0A0B01}"/>
              </a:ext>
            </a:extLst>
          </p:cNvPr>
          <p:cNvSpPr>
            <a:spLocks noGrp="1"/>
          </p:cNvSpPr>
          <p:nvPr/>
        </p:nvSpPr>
        <p:spPr>
          <a:xfrm>
            <a:off x="3371850" y="3371850"/>
            <a:ext cx="7620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AnchorMode, RotationSource, bUseTriggerActorAsAnchor, RelativeTransform, bUseYawOnly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97D9C2-5082-4986-94D9-29DCE067CE2D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2362200" cy="266700"/>
          </a:xfrm>
          <a:prstGeom prst="rect">
            <a:avLst/>
          </a:prstGeom>
          <a:solidFill>
            <a:srgbClr val="E7F6ED"/>
          </a:solidFill>
          <a:ln w="9525">
            <a:solidFill>
              <a:srgbClr val="25834D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834D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834D"/>
                </a:solidFill>
                <a:latin typeface="나눔스퀘어 네오 Bold"/>
                <a:ea typeface="나눔스퀘어 네오 Bold"/>
                <a:cs typeface="나눔스퀘어 네오 Bold"/>
              </a:rPr>
              <a:t>Cinematic|Network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1C6668-2A31-49EF-A619-7B7BDFD49088}"/>
              </a:ext>
            </a:extLst>
          </p:cNvPr>
          <p:cNvSpPr>
            <a:spLocks noGrp="1"/>
          </p:cNvSpPr>
          <p:nvPr/>
        </p:nvSpPr>
        <p:spPr>
          <a:xfrm>
            <a:off x="3371850" y="4057650"/>
            <a:ext cx="7620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NetworkPolicy는 현재 프로젝트 기준 LocalOnly 권장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404578-8E5D-473C-BB5F-20EA6B5B5538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2362200" cy="2667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rPr>
              <a:t>Cinematic|Debug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A6D8EA-8E72-4407-82B4-0F1A8E64F2F1}"/>
              </a:ext>
            </a:extLst>
          </p:cNvPr>
          <p:cNvSpPr>
            <a:spLocks noGrp="1"/>
          </p:cNvSpPr>
          <p:nvPr/>
        </p:nvSpPr>
        <p:spPr>
          <a:xfrm>
            <a:off x="3371850" y="4743450"/>
            <a:ext cx="7620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bDrawDebugAnchor, DebugDrawDuration, DebugDrawScale로 PIE에서 원점 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5246AA-E359-4553-A763-2949E425AB9A}"/>
              </a:ext>
            </a:extLst>
          </p:cNvPr>
          <p:cNvSpPr>
            <a:spLocks noGrp="1"/>
          </p:cNvSpPr>
          <p:nvPr/>
        </p:nvSpPr>
        <p:spPr>
          <a:xfrm>
            <a:off x="1524000" y="5753100"/>
            <a:ext cx="9144000" cy="400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처음 배치할 때는 bDrawDebugAnchor를 켜고, 시퀀스가 어느 위치와 회전으로 시작하는지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0424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52059A-885D-46ED-B001-93A11EDC2A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97FE24-876B-48A3-802B-D1CF1CB15E42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A0B060-A622-4028-B268-054B7FAAB42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EDITOR SETUP 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AB816C-4A88-484B-A5CC-3BEE5771C9E6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참가자 컴포넌트는 액터별로 멈춤 정책을 다르게 둔다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8236FF-3AE8-471D-821A-745D4487C44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플레이어는 입력과 이동, Enemy/NPC는 AI와 Tick/Animation을 중심으로 본다.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1C6737-4797-46EA-B250-1B7105829BAD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CC9F2D-B431-4C4B-81A8-1B0E04D14135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2552700" cy="135255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BP_PlayerCharacter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CinematicActionComponent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CinematicParticipantComponent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Move/Look/Movement 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4DDEA7-9E57-42B6-94A0-C574C991BCD6}"/>
              </a:ext>
            </a:extLst>
          </p:cNvPr>
          <p:cNvSpPr>
            <a:spLocks noGrp="1"/>
          </p:cNvSpPr>
          <p:nvPr/>
        </p:nvSpPr>
        <p:spPr>
          <a:xfrm>
            <a:off x="3676650" y="2781300"/>
            <a:ext cx="10477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20CC2E-4100-43F5-993C-3D4F7725532D}"/>
              </a:ext>
            </a:extLst>
          </p:cNvPr>
          <p:cNvSpPr>
            <a:spLocks noGrp="1"/>
          </p:cNvSpPr>
          <p:nvPr/>
        </p:nvSpPr>
        <p:spPr>
          <a:xfrm>
            <a:off x="4572000" y="26479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77BDAA-74FB-4AC6-9FB1-B35E3D3DE669}"/>
              </a:ext>
            </a:extLst>
          </p:cNvPr>
          <p:cNvSpPr>
            <a:spLocks noGrp="1"/>
          </p:cNvSpPr>
          <p:nvPr/>
        </p:nvSpPr>
        <p:spPr>
          <a:xfrm>
            <a:off x="5010150" y="2133600"/>
            <a:ext cx="2552700" cy="135255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Enemy / NPC BP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CinematicParticipantComponent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bPauseAILogic ON</a:t>
            </a: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Tick/Animation은 필요 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AFA716-F9EF-4B42-98BB-DBEA0B5AFF33}"/>
              </a:ext>
            </a:extLst>
          </p:cNvPr>
          <p:cNvSpPr>
            <a:spLocks noGrp="1"/>
          </p:cNvSpPr>
          <p:nvPr/>
        </p:nvSpPr>
        <p:spPr>
          <a:xfrm>
            <a:off x="7848600" y="2781300"/>
            <a:ext cx="10477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CF7C2D-C045-47D4-A04C-7E059326E6F5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575" b="0">
                <a:solidFill>
                  <a:srgbClr val="CBD5E1"/>
                </a:solidFill>
                <a:latin typeface="나눔스퀘어 네오 Bold"/>
                <a:ea typeface="나눔스퀘어 네오 Bold"/>
                <a:cs typeface="나눔스퀘어 네오 Bold"/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C9CAF9-9E9B-4F8C-B68D-4DBB5C629F4F}"/>
              </a:ext>
            </a:extLst>
          </p:cNvPr>
          <p:cNvSpPr>
            <a:spLocks noGrp="1"/>
          </p:cNvSpPr>
          <p:nvPr/>
        </p:nvSpPr>
        <p:spPr>
          <a:xfrm>
            <a:off x="9182100" y="2133600"/>
            <a:ext cx="2095500" cy="135255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월드 전체 적용</a:t>
            </a:r>
          </a:p>
          <a:p>
            <a:endParaRPr sz="1050" b="0">
              <a:solidFill>
                <a:srgbClr val="152033"/>
              </a:solidFill>
              <a:latin typeface="나눔스퀘어 네오 Bold"/>
              <a:ea typeface="나눔스퀘어 네오 Bold"/>
              <a:cs typeface="나눔스퀘어 네오 Bold"/>
            </a:endParaRPr>
          </a:p>
          <a:p>
            <a:pPr algn="ctr">
              <a:def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152033"/>
                </a:solidFill>
                <a:latin typeface="나눔스퀘어 네오 Bold"/>
                <a:ea typeface="나눔스퀘어 네오 Bold"/>
                <a:cs typeface="나눔스퀘어 네오 Bold"/>
              </a:rPr>
              <a:t>bAffectAllParticipants = true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58ECAB-CF87-45B9-A6C3-B30BD4BB9438}"/>
              </a:ext>
            </a:extLst>
          </p:cNvPr>
          <p:cNvSpPr>
            <a:spLocks noGrp="1"/>
          </p:cNvSpPr>
          <p:nvPr/>
        </p:nvSpPr>
        <p:spPr>
          <a:xfrm>
            <a:off x="1066800" y="4152900"/>
            <a:ext cx="1905000" cy="2667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rPr>
              <a:t>체크할 옵션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AEF850-C948-4D0D-80E5-9C1396FEA826}"/>
              </a:ext>
            </a:extLst>
          </p:cNvPr>
          <p:cNvSpPr>
            <a:spLocks noGrp="1"/>
          </p:cNvSpPr>
          <p:nvPr/>
        </p:nvSpPr>
        <p:spPr>
          <a:xfrm>
            <a:off x="3276600" y="3981450"/>
            <a:ext cx="76581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bLockPlayerMoveInput / bLockPlayerLookInput / bDisableCharacterMovement / bDisableOwnerTick / bDisableComponentTicks / bPauseAILogic / bPauseSkeletalAnimations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417836-C8B3-4CC1-86AE-749671DF06EF}"/>
              </a:ext>
            </a:extLst>
          </p:cNvPr>
          <p:cNvSpPr>
            <a:spLocks noGrp="1"/>
          </p:cNvSpPr>
          <p:nvPr/>
        </p:nvSpPr>
        <p:spPr>
          <a:xfrm>
            <a:off x="1504950" y="5600700"/>
            <a:ext cx="9182100" cy="4572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125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팁: 전체 멈춤이 필요하다고 전부 켜지 말고, 실제로 움직이면 안 되는 액터에만 ParticipantComponent를 붙인다.</a:t>
            </a:r>
          </a:p>
        </p:txBody>
      </p:sp>
    </p:spTree>
    <p:extLst>
      <p:ext uri="{BB962C8B-B14F-4D97-AF65-F5344CB8AC3E}">
        <p14:creationId xmlns:p14="http://schemas.microsoft.com/office/powerpoint/2010/main" val="1792603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2F85ED-B864-41B7-8A87-70B75E3472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3FA65A-A7BC-489D-87E5-545DACBB2779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76200" cy="228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9D619A-5EC4-46D4-A50A-68C6E6079F9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900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VALIDATION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EA43E3-591A-4D06-AD7D-C953940B3CEE}"/>
              </a:ext>
            </a:extLst>
          </p:cNvPr>
          <p:cNvSpPr>
            <a:spLocks noGrp="1"/>
          </p:cNvSpPr>
          <p:nvPr/>
        </p:nvSpPr>
        <p:spPr>
          <a:xfrm>
            <a:off x="419100" y="704850"/>
            <a:ext cx="1009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2175" b="0">
                <a:solidFill>
                  <a:srgbClr val="152033"/>
                </a:solidFill>
                <a:latin typeface="나눔스퀘어 네오 Heavy"/>
                <a:ea typeface="나눔스퀘어 네오 Heavy"/>
                <a:cs typeface="나눔스퀘어 네오 Heavy"/>
              </a:rPr>
              <a:t>처음 테스트는 짧은 시퀀스와 Debug Anchor로 한다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CB8AB5-0DF5-4438-BB80-6E7ADCA612C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990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163" b="0">
                <a:solidFill>
                  <a:srgbClr val="647084"/>
                </a:solidFill>
                <a:latin typeface="나눔스퀘어 네오 Regular"/>
                <a:ea typeface="나눔스퀘어 네오 Regular"/>
                <a:cs typeface="나눔스퀘어 네오 Regular"/>
              </a:rPr>
              <a:t>위치, 회전, 바인딩, 잠금, 복구가 통과한 뒤 연출 밀도를 올린다.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FCF9FE-9E49-496C-8ACC-E7A578BFEDA4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defRPr>
            </a:pPr>
            <a:r>
              <a:rPr sz="675" b="0">
                <a:solidFill>
                  <a:srgbClr val="7B8794"/>
                </a:solidFill>
                <a:latin typeface="나눔스퀘어 네오 Light"/>
                <a:ea typeface="나눔스퀘어 네오 Light"/>
                <a:cs typeface="나눔스퀘어 네오 Light"/>
              </a:rPr>
              <a:t>Project_MJS Cinematic TDD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F129E7-E14D-4DC7-BD8B-4C1D7B4BC502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00050" cy="4000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CC236A-71A5-4217-ACAC-A8DE958172A1}"/>
              </a:ext>
            </a:extLst>
          </p:cNvPr>
          <p:cNvSpPr>
            <a:spLocks noGrp="1"/>
          </p:cNvSpPr>
          <p:nvPr/>
        </p:nvSpPr>
        <p:spPr>
          <a:xfrm>
            <a:off x="1257300" y="2066925"/>
            <a:ext cx="200025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63EB"/>
                </a:solidFill>
                <a:latin typeface="나눔스퀘어 네오 Bold"/>
                <a:ea typeface="나눔스퀘어 네오 Bold"/>
                <a:cs typeface="나눔스퀘어 네오 Bold"/>
              </a:rPr>
              <a:t>Anchor 위치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847126-2C30-43A6-B03C-FDE2544030A2}"/>
              </a:ext>
            </a:extLst>
          </p:cNvPr>
          <p:cNvSpPr>
            <a:spLocks noGrp="1"/>
          </p:cNvSpPr>
          <p:nvPr/>
        </p:nvSpPr>
        <p:spPr>
          <a:xfrm>
            <a:off x="3562350" y="1981200"/>
            <a:ext cx="742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Debug 좌표축이 플레이어/타겟/트리거 기준점에 뜨는가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383DEE-C19C-4ABC-BB9F-7C3636D6DD8E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400050" cy="400050"/>
          </a:xfrm>
          <a:prstGeom prst="rect">
            <a:avLst/>
          </a:prstGeom>
          <a:solidFill>
            <a:srgbClr val="0F8F86"/>
          </a:solidFill>
          <a:ln w="9525">
            <a:solidFill>
              <a:srgbClr val="0F8F86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039185-20A5-41A1-90CB-EA354D0A3874}"/>
              </a:ext>
            </a:extLst>
          </p:cNvPr>
          <p:cNvSpPr>
            <a:spLocks noGrp="1"/>
          </p:cNvSpPr>
          <p:nvPr/>
        </p:nvSpPr>
        <p:spPr>
          <a:xfrm>
            <a:off x="1257300" y="2733675"/>
            <a:ext cx="2000250" cy="266700"/>
          </a:xfrm>
          <a:prstGeom prst="rect">
            <a:avLst/>
          </a:prstGeom>
          <a:solidFill>
            <a:srgbClr val="E4F7F4"/>
          </a:solidFill>
          <a:ln w="9525">
            <a:solidFill>
              <a:srgbClr val="0F8F86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0F8F86"/>
                </a:solidFill>
                <a:latin typeface="나눔스퀘어 네오 Bold"/>
                <a:ea typeface="나눔스퀘어 네오 Bold"/>
                <a:cs typeface="나눔스퀘어 네오 Bold"/>
              </a:rPr>
              <a:t>Rotation 방향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043D6-D6C0-415B-A059-1177B6D9564C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742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카메라 yaw 또는 캐릭터 전방이 의도와 맞는가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DF2E6E-16D7-406B-99DB-D2733CAAD9C9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400050" cy="400050"/>
          </a:xfrm>
          <a:prstGeom prst="rect">
            <a:avLst/>
          </a:prstGeom>
          <a:solidFill>
            <a:srgbClr val="B7791F"/>
          </a:solidFill>
          <a:ln w="9525">
            <a:solidFill>
              <a:srgbClr val="B7791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rPr>
              <a:t>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98BE9F-1325-4CF9-9DD7-9B5C64D1B1D5}"/>
              </a:ext>
            </a:extLst>
          </p:cNvPr>
          <p:cNvSpPr>
            <a:spLocks noGrp="1"/>
          </p:cNvSpPr>
          <p:nvPr/>
        </p:nvSpPr>
        <p:spPr>
          <a:xfrm>
            <a:off x="1257300" y="3400425"/>
            <a:ext cx="2000250" cy="266700"/>
          </a:xfrm>
          <a:prstGeom prst="rect">
            <a:avLst/>
          </a:prstGeom>
          <a:solidFill>
            <a:srgbClr val="FFF2D8"/>
          </a:solidFill>
          <a:ln w="9525">
            <a:solidFill>
              <a:srgbClr val="B7791F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B7791F"/>
                </a:solidFill>
                <a:latin typeface="나눔스퀘어 네오 Bold"/>
                <a:ea typeface="나눔스퀘어 네오 Bold"/>
                <a:cs typeface="나눔스퀘어 네오 Bold"/>
              </a:rPr>
              <a:t>Binding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76B019-F435-4309-B810-0A60366C25AC}"/>
              </a:ext>
            </a:extLst>
          </p:cNvPr>
          <p:cNvSpPr>
            <a:spLocks noGrp="1"/>
          </p:cNvSpPr>
          <p:nvPr/>
        </p:nvSpPr>
        <p:spPr>
          <a:xfrm>
            <a:off x="3562350" y="3314700"/>
            <a:ext cx="742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Sequencer의 Player/Target/Weapon 태그가 실제 액터로 교체되는가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3D7345-8F4B-490A-B665-C0A76C9D3E1D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400050" cy="400050"/>
          </a:xfrm>
          <a:prstGeom prst="rect">
            <a:avLst/>
          </a:prstGeom>
          <a:solidFill>
            <a:srgbClr val="C24141"/>
          </a:solidFill>
          <a:ln w="9525">
            <a:solidFill>
              <a:srgbClr val="C24141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rPr>
              <a:t>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20929A-6BC2-45C0-8F9E-19413F9330DF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2000250" cy="266700"/>
          </a:xfrm>
          <a:prstGeom prst="rect">
            <a:avLst/>
          </a:prstGeom>
          <a:solidFill>
            <a:srgbClr val="FDE8E8"/>
          </a:solidFill>
          <a:ln w="9525">
            <a:solidFill>
              <a:srgbClr val="C24141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C24141"/>
                </a:solidFill>
                <a:latin typeface="나눔스퀘어 네오 Bold"/>
                <a:ea typeface="나눔스퀘어 네오 Bold"/>
                <a:cs typeface="나눔스퀘어 네오 Bold"/>
              </a:rPr>
              <a:t>Participant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F8CE25-6FAA-433F-9AAA-60EE09F310D4}"/>
              </a:ext>
            </a:extLst>
          </p:cNvPr>
          <p:cNvSpPr>
            <a:spLocks noGrp="1"/>
          </p:cNvSpPr>
          <p:nvPr/>
        </p:nvSpPr>
        <p:spPr>
          <a:xfrm>
            <a:off x="3562350" y="3981450"/>
            <a:ext cx="742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입력, 이동, AI, Tick, Animation이 시작/종료에 맞춰 복구되는가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DB882D-7362-4F7D-8E81-765EAD58AD3F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400050" cy="400050"/>
          </a:xfrm>
          <a:prstGeom prst="rect">
            <a:avLst/>
          </a:prstGeom>
          <a:solidFill>
            <a:srgbClr val="25834D"/>
          </a:solidFill>
          <a:ln w="9525">
            <a:solidFill>
              <a:srgbClr val="25834D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defRPr>
            </a:pPr>
            <a:r>
              <a:rPr sz="1350" b="0">
                <a:solidFill>
                  <a:srgbClr val="FFFFFF"/>
                </a:solidFill>
                <a:latin typeface="나눔스퀘어 네오 Heavy"/>
                <a:ea typeface="나눔스퀘어 네오 Heavy"/>
                <a:cs typeface="나눔스퀘어 네오 Heavy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9AEDAA-42D3-4B94-B7D4-2B47FCAEE84E}"/>
              </a:ext>
            </a:extLst>
          </p:cNvPr>
          <p:cNvSpPr>
            <a:spLocks noGrp="1"/>
          </p:cNvSpPr>
          <p:nvPr/>
        </p:nvSpPr>
        <p:spPr>
          <a:xfrm>
            <a:off x="1257300" y="4733925"/>
            <a:ext cx="2000250" cy="266700"/>
          </a:xfrm>
          <a:prstGeom prst="rect">
            <a:avLst/>
          </a:prstGeom>
          <a:solidFill>
            <a:srgbClr val="E7F6ED"/>
          </a:solidFill>
          <a:ln w="9525">
            <a:solidFill>
              <a:srgbClr val="25834D"/>
            </a:solidFill>
            <a:prstDash val="solid"/>
          </a:ln>
        </p:spPr>
        <p:txBody>
          <a:bodyPr lIns="38100" tIns="76200" rIns="38100" bIns="76200" anchor="ctr"/>
          <a:lstStyle/>
          <a:p>
            <a:pPr algn="ctr">
              <a:defRPr sz="825" b="0">
                <a:solidFill>
                  <a:srgbClr val="25834D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825" b="0">
                <a:solidFill>
                  <a:srgbClr val="25834D"/>
                </a:solidFill>
                <a:latin typeface="나눔스퀘어 네오 Bold"/>
                <a:ea typeface="나눔스퀘어 네오 Bold"/>
                <a:cs typeface="나눔스퀘어 네오 Bold"/>
              </a:rPr>
              <a:t>ViewTarget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B8979B-0DC8-4C8B-8406-4B92354B33A8}"/>
              </a:ext>
            </a:extLst>
          </p:cNvPr>
          <p:cNvSpPr>
            <a:spLocks noGrp="1"/>
          </p:cNvSpPr>
          <p:nvPr/>
        </p:nvSpPr>
        <p:spPr>
          <a:xfrm>
            <a:off x="3562350" y="4648200"/>
            <a:ext cx="7429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14300" tIns="76200" rIns="114300" bIns="76200" anchor="ctr"/>
          <a:lstStyle/>
          <a:p>
            <a:pPr algn="l">
              <a:def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defRPr>
            </a:pPr>
            <a:r>
              <a:rPr sz="1065" b="0">
                <a:solidFill>
                  <a:srgbClr val="152033"/>
                </a:solidFill>
                <a:latin typeface="나눔스퀘어 네오 Regular"/>
                <a:ea typeface="나눔스퀘어 네오 Regular"/>
                <a:cs typeface="나눔스퀘어 네오 Regular"/>
              </a:rPr>
              <a:t>시퀀스 종료 뒤 기존 CameraRig/ViewTarget으로 돌아오는가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061FD5-6ECF-4685-9854-FB0C15C395BD}"/>
              </a:ext>
            </a:extLst>
          </p:cNvPr>
          <p:cNvSpPr>
            <a:spLocks noGrp="1"/>
          </p:cNvSpPr>
          <p:nvPr/>
        </p:nvSpPr>
        <p:spPr>
          <a:xfrm>
            <a:off x="1885950" y="5753100"/>
            <a:ext cx="8420100" cy="4191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defRPr>
            </a:pPr>
            <a:r>
              <a:rPr sz="1050" b="0">
                <a:solidFill>
                  <a:srgbClr val="FFFFFF"/>
                </a:solidFill>
                <a:latin typeface="나눔스퀘어 네오 Bold"/>
                <a:ea typeface="나눔스퀘어 네오 Bold"/>
                <a:cs typeface="나눔스퀘어 네오 Bold"/>
              </a:rPr>
              <a:t>확장 우선순위: SkillDataAsset 연결 -&gt; Binding Tag 자동화 -&gt; 실제 궁극기 1.5~2.5초 컷인 제작.</a:t>
            </a:r>
          </a:p>
        </p:txBody>
      </p:sp>
    </p:spTree>
    <p:extLst>
      <p:ext uri="{BB962C8B-B14F-4D97-AF65-F5344CB8AC3E}">
        <p14:creationId xmlns:p14="http://schemas.microsoft.com/office/powerpoint/2010/main" val="11744190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1572</Words>
  <Application>Microsoft Office PowerPoint</Application>
  <DocSecurity>0</DocSecurity>
  <PresentationFormat>와이드스크린</PresentationFormat>
  <Paragraphs>341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나눔스퀘어 네오 Bold</vt:lpstr>
      <vt:lpstr>나눔스퀘어 네오 Heavy</vt:lpstr>
      <vt:lpstr>나눔스퀘어 네오 Light</vt:lpstr>
      <vt:lpstr>나눔스퀘어 네오 Regular</vt:lpstr>
      <vt:lpstr>Calibri</vt:lpstr>
      <vt:lpstr>Consolas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Park Yongseok</cp:lastModifiedBy>
  <cp:revision>1</cp:revision>
  <dcterms:created xsi:type="dcterms:W3CDTF">2026-06-14T19:23:41Z</dcterms:created>
  <dcterms:modified xsi:type="dcterms:W3CDTF">2026-06-14T19:50:03Z</dcterms:modified>
</cp:coreProperties>
</file>